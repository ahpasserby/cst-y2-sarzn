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337" r:id="rId30"/>
    <p:sldId id="338" r:id="rId31"/>
    <p:sldId id="339" r:id="rId32"/>
    <p:sldId id="340" r:id="rId33"/>
    <p:sldId id="341" r:id="rId34"/>
    <p:sldId id="342" r:id="rId35"/>
    <p:sldId id="343" r:id="rId36"/>
    <p:sldId id="344" r:id="rId37"/>
    <p:sldId id="345" r:id="rId38"/>
    <p:sldId id="346" r:id="rId39"/>
    <p:sldId id="347" r:id="rId40"/>
    <p:sldId id="348" r:id="rId41"/>
    <p:sldId id="349" r:id="rId42"/>
    <p:sldId id="350" r:id="rId43"/>
    <p:sldId id="351" r:id="rId44"/>
    <p:sldId id="352" r:id="rId45"/>
    <p:sldId id="353" r:id="rId46"/>
    <p:sldId id="354" r:id="rId47"/>
    <p:sldId id="355" r:id="rId48"/>
    <p:sldId id="356" r:id="rId49"/>
    <p:sldId id="357" r:id="rId50"/>
    <p:sldId id="310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08" y="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6601E-E5BF-4764-974E-21020FD71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 anchorCtr="0">
            <a:noAutofit/>
          </a:bodyPr>
          <a:lstStyle>
            <a:lvl1pPr algn="ctr">
              <a:defRPr sz="6000"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10BBCF-6A54-4E8B-AFF7-FFB156E9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36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23DB27-80DF-4480-84D8-4F7E3CE27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5B36B5-93E0-47D1-A69A-AF6472FC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C6AA53-F6FB-4A36-BF6E-3A284ACD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2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FCB51-5860-44E1-A7DC-53AF818AB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C06E84-36AC-4C3D-9AD5-EC5C455F7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0C9CD7-0002-45F9-B867-CD012A15B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89D3C6-B378-427D-B5E9-AA50A015D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D9238F-573F-4202-BBD4-C6915AD3A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42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E76F74-E711-432F-8CDD-6EC55AA9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562149-CA2F-445E-8E36-3A2216204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5751D8-5990-4F32-ABC4-C1F20F8CA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301F81-3A2E-4611-A301-CF8D0880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B8861C-0727-4F01-8EC4-8CBC6052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B6D96-DFB4-450B-82B5-6D6046B7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F00C65-7E5E-4D13-88C0-9103CECE1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CE5578-E544-478E-A647-51B99CED0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E3EE5B-97E0-4011-8A55-3FD0EEE0A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38D292-1708-442F-A551-DBBD5B7E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9BB4A1-57C3-4DF2-AF1C-417061E3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89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CE17A2-5E8C-4D91-89CE-D96103ED3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592804-7972-4EAF-BEB8-6273AA150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146D88-42B6-45F4-BB87-F4B7ADE68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5067F0-6B5C-41DC-B8AB-48AC96B0B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E39C55-39B9-42DC-A4A8-56B014119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1C29DB-DF65-4768-B0CF-3AD07A91B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F1B0BF-F9C6-4522-B86F-C29143B5E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21D63A-2125-47FD-A3F7-2C034486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9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498E6-615F-4A64-8C1C-CA84BE02E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B640A4-D65F-4DF4-B3DE-7D66447AF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278468-56E3-415F-B8DA-15A635F26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26481F-2CA7-4996-A6EE-8555C16F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83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361633-AA77-4C08-B8BE-988FAEEFA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39C8CF-241D-4656-B8CE-8C216F38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5E297C-FA4F-40F9-B634-11F34F31F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569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B76C12-89FA-4467-9AB3-A7A87370A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8EE5B3-43F4-47E8-AE71-51A5560D2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55CC0A-C7FF-4B14-88E8-43EC87D71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F603D0-296F-4FD8-BB6F-1FABFC47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5960B9-3EC9-48F1-8997-CBB662C2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63DFE5-4DA2-4FC6-9AA4-ACBD19B9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8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05A2DE-C19F-4774-82D6-977BE38DD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421D61-C07B-4316-BC18-305A6682B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2D6375-EA77-412F-A77B-59D3365AA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184D23-9BC7-4D95-814B-788A5524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7073CA-04EC-40A6-9652-B66B8A0FA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206B21-37C1-4A16-941E-54D5CBAD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35AED-8132-4656-8817-219B2B5A0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23CB56-78AF-44D6-BBB6-06E1D87BD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8DE78C-8E5C-408E-8491-32A7F6C9C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2EE529-F390-437A-83BB-74ED8EF99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851072-36B0-4E62-B43F-D46DD8D9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9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7A622E-280D-4423-BB8C-341E6A1C7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A5FDE6-38F5-495D-8CA3-35820BB6B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ABBC5-ACAC-4F2C-BB83-E159F3914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AF1C66-9EFB-4BDF-9AED-9C224BB50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AFA51D-FFC4-4303-AED5-79EBC45A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18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BB9B15-BBDC-4639-8C23-864CD2A8F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6AB489-10A2-4106-BCEC-95550888B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CBAD13-C6FD-415C-9565-151E2B98F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6D491-201B-436C-AE42-C25B482B398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8C5D64-ADC8-447C-A9BF-15571194D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B512C4-ADFB-4AAD-9861-A374AB44E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6220B-B3B2-4AEB-8827-27531F48B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7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0C00A1-E124-4D79-8CA4-A4A6CCDCE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COMP1003</a:t>
            </a:r>
            <a:br>
              <a:rPr lang="en-US" dirty="0"/>
            </a:br>
            <a:r>
              <a:rPr lang="en-US" dirty="0"/>
              <a:t>Lecture </a:t>
            </a:r>
            <a:r>
              <a:rPr lang="en-US"/>
              <a:t>02 </a:t>
            </a:r>
            <a:br>
              <a:rPr lang="en-US"/>
            </a:br>
            <a:r>
              <a:rPr lang="en-US"/>
              <a:t>Boolean </a:t>
            </a:r>
            <a:r>
              <a:rPr lang="en-US" dirty="0"/>
              <a:t>Algebra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F2F4D2-6FA8-4973-BED9-3520AACE45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Goliath</a:t>
            </a:r>
          </a:p>
        </p:txBody>
      </p:sp>
    </p:spTree>
    <p:extLst>
      <p:ext uri="{BB962C8B-B14F-4D97-AF65-F5344CB8AC3E}">
        <p14:creationId xmlns:p14="http://schemas.microsoft.com/office/powerpoint/2010/main" val="370334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BA16E-84B6-4E21-AC3D-0AAB8BFFF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96E565-19F0-478E-A6E9-D530D07A3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Boolean Algebra</a:t>
            </a:r>
          </a:p>
          <a:p>
            <a:r>
              <a:rPr lang="en-US" dirty="0"/>
              <a:t>Truth table</a:t>
            </a:r>
          </a:p>
          <a:p>
            <a:r>
              <a:rPr lang="en-US" dirty="0"/>
              <a:t>Identity</a:t>
            </a:r>
          </a:p>
          <a:p>
            <a:r>
              <a:rPr lang="en-US" dirty="0"/>
              <a:t>Information Manipulation</a:t>
            </a:r>
          </a:p>
        </p:txBody>
      </p:sp>
    </p:spTree>
    <p:extLst>
      <p:ext uri="{BB962C8B-B14F-4D97-AF65-F5344CB8AC3E}">
        <p14:creationId xmlns:p14="http://schemas.microsoft.com/office/powerpoint/2010/main" val="1261038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916FA-790E-4D45-AF34-8993B5E46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9A042D-C359-4538-A0E8-647BBA973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The first concern of a computer design is how information (numbers) is presented.</a:t>
            </a:r>
          </a:p>
          <a:p>
            <a:r>
              <a:rPr lang="en-US" dirty="0"/>
              <a:t>Historically, decimal (base 10) computers, ternary (base 3) computers, analog (</a:t>
            </a:r>
            <a:r>
              <a:rPr lang="en-US" altLang="zh-CN" dirty="0"/>
              <a:t>continuous</a:t>
            </a:r>
            <a:r>
              <a:rPr lang="en-US" dirty="0"/>
              <a:t>) </a:t>
            </a:r>
            <a:r>
              <a:rPr lang="en-US"/>
              <a:t>computers have been </a:t>
            </a:r>
            <a:r>
              <a:rPr lang="en-US" dirty="0"/>
              <a:t>invented.</a:t>
            </a:r>
          </a:p>
          <a:p>
            <a:r>
              <a:rPr lang="en-US" dirty="0"/>
              <a:t>But, only binary (base 2) computers survived because they are easily designed and </a:t>
            </a:r>
            <a:r>
              <a:rPr lang="en-US" altLang="zh-CN" dirty="0"/>
              <a:t>maintained.</a:t>
            </a:r>
          </a:p>
        </p:txBody>
      </p:sp>
    </p:spTree>
    <p:extLst>
      <p:ext uri="{BB962C8B-B14F-4D97-AF65-F5344CB8AC3E}">
        <p14:creationId xmlns:p14="http://schemas.microsoft.com/office/powerpoint/2010/main" val="70391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17B72-CA26-408D-9DB4-FBF593A3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FA65B8-DE81-4A3D-9A02-0B4CB9D31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week introduces Boolean algebra - the foundation of binary computers.</a:t>
            </a:r>
          </a:p>
          <a:p>
            <a:r>
              <a:rPr lang="en-US" dirty="0"/>
              <a:t>How information is presented by Boolean algebra will be covered by next week.</a:t>
            </a:r>
          </a:p>
          <a:p>
            <a:r>
              <a:rPr lang="en-US" dirty="0"/>
              <a:t>Boolean algebra has been introduced in MATH2003. Thus, this lecture is more like a revision.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55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5EA7D-D03B-47B1-BE57-492C2F3F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8068C0-FFD5-4B4E-ACC4-2804B2C3A9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word algebra comes from the Arabic language from the title of the book </a:t>
                </a:r>
                <a:r>
                  <a:rPr lang="en-US" i="1" dirty="0" err="1"/>
                  <a:t>Ilm</a:t>
                </a:r>
                <a:r>
                  <a:rPr lang="en-US" i="1" dirty="0"/>
                  <a:t> al-</a:t>
                </a:r>
                <a:r>
                  <a:rPr lang="en-US" i="1" dirty="0" err="1"/>
                  <a:t>jabr</a:t>
                </a:r>
                <a:r>
                  <a:rPr lang="en-US" i="1" dirty="0"/>
                  <a:t> </a:t>
                </a:r>
                <a:r>
                  <a:rPr lang="en-US" i="1" dirty="0" err="1"/>
                  <a:t>wa'l-muḳābala</a:t>
                </a:r>
                <a:r>
                  <a:rPr lang="en-US" i="1" dirty="0"/>
                  <a:t> </a:t>
                </a:r>
                <a:r>
                  <a:rPr lang="en-US" dirty="0"/>
                  <a:t>by </a:t>
                </a:r>
                <a:r>
                  <a:rPr lang="en-US" i="1" dirty="0"/>
                  <a:t>al-Khwarizmi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The original meaning of </a:t>
                </a:r>
                <a:r>
                  <a:rPr lang="en-US" b="1" dirty="0">
                    <a:solidFill>
                      <a:srgbClr val="C00000"/>
                    </a:solidFill>
                  </a:rPr>
                  <a:t>algebra</a:t>
                </a:r>
                <a:r>
                  <a:rPr lang="en-US" dirty="0"/>
                  <a:t> (</a:t>
                </a:r>
                <a:r>
                  <a:rPr lang="en-US" b="1" dirty="0">
                    <a:solidFill>
                      <a:srgbClr val="C00000"/>
                    </a:solidFill>
                  </a:rPr>
                  <a:t>al-</a:t>
                </a:r>
                <a:r>
                  <a:rPr lang="en-US" b="1" dirty="0" err="1">
                    <a:solidFill>
                      <a:srgbClr val="C00000"/>
                    </a:solidFill>
                  </a:rPr>
                  <a:t>jabr</a:t>
                </a:r>
                <a:r>
                  <a:rPr lang="en-US" dirty="0"/>
                  <a:t>) is “reunion of broken parts”.</a:t>
                </a:r>
              </a:p>
              <a:p>
                <a:r>
                  <a:rPr lang="en-US" dirty="0"/>
                  <a:t>In mathematics, an algebra is the study of </a:t>
                </a:r>
                <a:r>
                  <a:rPr lang="en-US" b="1" dirty="0">
                    <a:solidFill>
                      <a:srgbClr val="C00000"/>
                    </a:solidFill>
                  </a:rPr>
                  <a:t>a set of symbols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rgbClr val="C00000"/>
                    </a:solidFill>
                  </a:rPr>
                  <a:t>the manipulating rules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For example, arithmetic is an algebra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dirty="0"/>
                  <a:t> is the set of natural numbers,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{+,×}</m:t>
                    </m:r>
                  </m:oMath>
                </a14:m>
                <a:r>
                  <a:rPr lang="en-US" dirty="0"/>
                  <a:t> are the rules to manipulate natural numbers.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48068C0-FFD5-4B4E-ACC4-2804B2C3A9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485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5EA73-143C-4523-B341-25B043BD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George Boole (1815 - 1864)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E47D72-925B-4F58-8C43-8A888FF0F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16906" cy="4351338"/>
          </a:xfrm>
        </p:spPr>
        <p:txBody>
          <a:bodyPr/>
          <a:lstStyle/>
          <a:p>
            <a:r>
              <a:rPr lang="en-US" dirty="0"/>
              <a:t>Originally, Logic and Mathematics were two distinct subjects.</a:t>
            </a:r>
          </a:p>
          <a:p>
            <a:r>
              <a:rPr lang="en-US" dirty="0"/>
              <a:t>George Boole discovered the correspondence between algebraic symbols and those that represent logical forms.</a:t>
            </a:r>
          </a:p>
          <a:p>
            <a:r>
              <a:rPr lang="en-US" dirty="0"/>
              <a:t>In 1854 Boole published </a:t>
            </a:r>
            <a:r>
              <a:rPr lang="en-US" b="1" dirty="0">
                <a:solidFill>
                  <a:srgbClr val="C00000"/>
                </a:solidFill>
              </a:rPr>
              <a:t>An Investigation of the Laws of Thought</a:t>
            </a:r>
            <a:r>
              <a:rPr lang="en-US" dirty="0"/>
              <a:t>,</a:t>
            </a:r>
          </a:p>
          <a:p>
            <a:r>
              <a:rPr lang="en-US" dirty="0"/>
              <a:t>which was the foundation of mathematical logic and probabilities.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F6A2E5-EC05-4460-BBAF-73515DB2D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6445" y="1695170"/>
            <a:ext cx="2207355" cy="262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5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C14FC-725B-43D2-9C01-E1B3615AA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03AC3E-7AF2-49FC-8005-2C74B4333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Recall that an algebra is the combination of a set of elements and a set of operators.</a:t>
            </a:r>
          </a:p>
          <a:p>
            <a:r>
              <a:rPr lang="en-US" dirty="0"/>
              <a:t>Boolean algebra is defined in the same way.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Please </a:t>
            </a:r>
            <a:r>
              <a:rPr lang="en-US" altLang="zh-CN" dirty="0"/>
              <a:t>distinguish integer addition and Boolean addition. (And same for multiplication.)</a:t>
            </a:r>
            <a:endParaRPr lang="en-US" dirty="0"/>
          </a:p>
          <a:p>
            <a:endParaRPr lang="en-US" dirty="0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66F1CF2-FDA6-45AB-9361-C6A3C314BE41}"/>
              </a:ext>
            </a:extLst>
          </p:cNvPr>
          <p:cNvSpPr/>
          <p:nvPr/>
        </p:nvSpPr>
        <p:spPr>
          <a:xfrm>
            <a:off x="1416000" y="3214725"/>
            <a:ext cx="9359996" cy="428549"/>
          </a:xfrm>
          <a:custGeom>
            <a:avLst/>
            <a:gdLst>
              <a:gd name="connsiteX0" fmla="*/ 76176 w 9359996"/>
              <a:gd name="connsiteY0" fmla="*/ 0 h 428549"/>
              <a:gd name="connsiteX1" fmla="*/ 9283816 w 9359996"/>
              <a:gd name="connsiteY1" fmla="*/ 0 h 428549"/>
              <a:gd name="connsiteX2" fmla="*/ 9359996 w 9359996"/>
              <a:gd name="connsiteY2" fmla="*/ 76180 h 428549"/>
              <a:gd name="connsiteX3" fmla="*/ 9359996 w 9359996"/>
              <a:gd name="connsiteY3" fmla="*/ 428549 h 428549"/>
              <a:gd name="connsiteX4" fmla="*/ 0 w 9359996"/>
              <a:gd name="connsiteY4" fmla="*/ 428549 h 428549"/>
              <a:gd name="connsiteX5" fmla="*/ 0 w 9359996"/>
              <a:gd name="connsiteY5" fmla="*/ 76161 h 428549"/>
              <a:gd name="connsiteX6" fmla="*/ 5983 w 9359996"/>
              <a:gd name="connsiteY6" fmla="*/ 46527 h 428549"/>
              <a:gd name="connsiteX7" fmla="*/ 76176 w 9359996"/>
              <a:gd name="connsiteY7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59996" h="428549">
                <a:moveTo>
                  <a:pt x="76176" y="0"/>
                </a:moveTo>
                <a:lnTo>
                  <a:pt x="9283816" y="0"/>
                </a:lnTo>
                <a:cubicBezTo>
                  <a:pt x="9325889" y="0"/>
                  <a:pt x="9359996" y="34107"/>
                  <a:pt x="9359996" y="76180"/>
                </a:cubicBezTo>
                <a:lnTo>
                  <a:pt x="9359996" y="428549"/>
                </a:lnTo>
                <a:lnTo>
                  <a:pt x="0" y="428549"/>
                </a:lnTo>
                <a:lnTo>
                  <a:pt x="0" y="76161"/>
                </a:lnTo>
                <a:lnTo>
                  <a:pt x="5983" y="46527"/>
                </a:lnTo>
                <a:cubicBezTo>
                  <a:pt x="17548" y="19185"/>
                  <a:pt x="44621" y="0"/>
                  <a:pt x="76176" y="0"/>
                </a:cubicBezTo>
                <a:close/>
              </a:path>
            </a:pathLst>
          </a:custGeom>
          <a:solidFill>
            <a:srgbClr val="C0504D">
              <a:lumMod val="75000"/>
            </a:srgbClr>
          </a:solidFill>
          <a:ln w="25400" cap="flat" cmpd="sng" algn="ctr">
            <a:solidFill>
              <a:srgbClr val="C0504D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CF564F2-D90A-4DF2-86A9-2C7A64FC78AF}"/>
                  </a:ext>
                </a:extLst>
              </p:cNvPr>
              <p:cNvSpPr/>
              <p:nvPr/>
            </p:nvSpPr>
            <p:spPr>
              <a:xfrm>
                <a:off x="1416000" y="3643274"/>
                <a:ext cx="9360000" cy="1602298"/>
              </a:xfrm>
              <a:prstGeom prst="rect">
                <a:avLst/>
              </a:prstGeom>
              <a:solidFill>
                <a:srgbClr val="C0504D">
                  <a:lumMod val="20000"/>
                  <a:lumOff val="80000"/>
                </a:srgbClr>
              </a:solidFill>
              <a:ln w="25400" cap="flat" cmpd="sng" algn="ctr">
                <a:solidFill>
                  <a:srgbClr val="C0504D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r>
                  <a:rPr lang="en-US" sz="2400" dirty="0"/>
                  <a:t>Boolean algebra consists of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set of elements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two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binary operators</a:t>
                </a:r>
                <a:r>
                  <a:rPr lang="en-US" sz="2400" dirty="0"/>
                  <a:t>: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Addition</a:t>
                </a:r>
                <a:r>
                  <a:rPr lang="en-US" sz="2400" dirty="0"/>
                  <a:t> “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/>
                  <a:t>” and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multiplication</a:t>
                </a:r>
                <a:r>
                  <a:rPr lang="en-US" sz="2400" dirty="0"/>
                  <a:t> “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sz="2400" dirty="0"/>
                  <a:t>”; and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unary operator</a:t>
                </a:r>
                <a:r>
                  <a:rPr lang="en-US" sz="2400" dirty="0"/>
                  <a:t>: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Complement</a:t>
                </a:r>
                <a:r>
                  <a:rPr lang="en-US" sz="2400" dirty="0"/>
                  <a:t> “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/>
                    </m:acc>
                  </m:oMath>
                </a14:m>
                <a:r>
                  <a:rPr lang="en-US" sz="2400" dirty="0"/>
                  <a:t>”.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CF564F2-D90A-4DF2-86A9-2C7A64FC78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00" y="3643274"/>
                <a:ext cx="9360000" cy="1602298"/>
              </a:xfrm>
              <a:prstGeom prst="rect">
                <a:avLst/>
              </a:prstGeom>
              <a:blipFill>
                <a:blip r:embed="rId2"/>
                <a:stretch>
                  <a:fillRect l="-778" t="-712" b="-2847"/>
                </a:stretch>
              </a:blipFill>
              <a:ln w="25400" cap="flat" cmpd="sng" algn="ctr">
                <a:solidFill>
                  <a:srgbClr val="C0504D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988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EAED73-5B46-4EE0-9D31-5390E9B61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47C909-FCBF-4A82-A59A-C545D721A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behaviors of the operators are defined by tables.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E9B2D99A-2F32-4184-8782-BD9244E07E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716592"/>
                  </p:ext>
                </p:extLst>
              </p:nvPr>
            </p:nvGraphicFramePr>
            <p:xfrm>
              <a:off x="2518564" y="2619000"/>
              <a:ext cx="1620000" cy="16200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40199277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9343208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19724590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68351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524558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97042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E9B2D99A-2F32-4184-8782-BD9244E07E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716592"/>
                  </p:ext>
                </p:extLst>
              </p:nvPr>
            </p:nvGraphicFramePr>
            <p:xfrm>
              <a:off x="2518564" y="2619000"/>
              <a:ext cx="1620000" cy="16200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40199277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9343208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19724590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24" t="-1124" r="-201124" b="-2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273" t="-1124" r="-103409" b="-2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124" r="-2247" b="-20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68351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24" t="-101124" r="-201124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273" t="-101124" r="-103409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124" r="-2247" b="-10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24558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24" t="-201124" r="-201124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273" t="-201124" r="-103409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124" r="-2247" b="-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97042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1E60C26F-8D0E-44CD-BF3F-1B59A953F5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8910336"/>
                  </p:ext>
                </p:extLst>
              </p:nvPr>
            </p:nvGraphicFramePr>
            <p:xfrm>
              <a:off x="5137327" y="2619000"/>
              <a:ext cx="1620000" cy="16200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40199277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9343208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19724590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68351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524558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97042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1E60C26F-8D0E-44CD-BF3F-1B59A953F5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8910336"/>
                  </p:ext>
                </p:extLst>
              </p:nvPr>
            </p:nvGraphicFramePr>
            <p:xfrm>
              <a:off x="5137327" y="2619000"/>
              <a:ext cx="1620000" cy="16200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40199277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9343208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19724590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24" t="-1124" r="-202247" b="-2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124" t="-1124" r="-102247" b="-2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124" t="-1124" r="-2247" b="-20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68351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24" t="-101124" r="-202247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124" t="-101124" r="-102247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124" t="-101124" r="-2247" b="-10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24558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24" t="-201124" r="-202247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124" t="-201124" r="-102247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124" t="-201124" r="-2247" b="-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970424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63C8316-4D20-4BD3-87A6-83CB74CE3D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5197926"/>
                  </p:ext>
                </p:extLst>
              </p:nvPr>
            </p:nvGraphicFramePr>
            <p:xfrm>
              <a:off x="7756090" y="2619000"/>
              <a:ext cx="1620000" cy="1095879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40199277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9343208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19724590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68351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/>
                                </m:acc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52455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63C8316-4D20-4BD3-87A6-83CB74CE3D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5197926"/>
                  </p:ext>
                </p:extLst>
              </p:nvPr>
            </p:nvGraphicFramePr>
            <p:xfrm>
              <a:off x="7756090" y="2619000"/>
              <a:ext cx="1620000" cy="1095879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40199277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9343208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19724590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1124" t="-1124" r="-102247" b="-105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1124" t="-1124" r="-2247" b="-1056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6835145"/>
                      </a:ext>
                    </a:extLst>
                  </a:tr>
                  <a:tr h="5558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24" t="-97826" r="-202247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1124" t="-97826" r="-102247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1124" t="-97826" r="-2247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2455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1011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350AE-4CEA-4EA1-897B-15A19D6B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070BC28-B78A-4598-8728-6191C435BE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one Boolean expression consists of multiple operators, we must know which operator acts first.</a:t>
                </a:r>
              </a:p>
              <a:p>
                <a:r>
                  <a:rPr lang="en-US" dirty="0"/>
                  <a:t>This is called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precedence</a:t>
                </a:r>
                <a:r>
                  <a:rPr lang="en-US" altLang="zh-CN" dirty="0"/>
                  <a:t>.</a:t>
                </a:r>
              </a:p>
              <a:p>
                <a:r>
                  <a:rPr lang="en-US" dirty="0"/>
                  <a:t>Similar to arithmetic, </a:t>
                </a:r>
              </a:p>
              <a:p>
                <a:pPr lvl="1"/>
                <a:r>
                  <a:rPr lang="en-US" dirty="0"/>
                  <a:t>complement “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/>
                    </m:acc>
                  </m:oMath>
                </a14:m>
                <a:r>
                  <a:rPr lang="en-US" dirty="0"/>
                  <a:t>” is the highest,</a:t>
                </a:r>
              </a:p>
              <a:p>
                <a:pPr lvl="1"/>
                <a:r>
                  <a:rPr lang="en-US" dirty="0"/>
                  <a:t>multiplication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dirty="0"/>
                  <a:t>” is the second, and</a:t>
                </a:r>
              </a:p>
              <a:p>
                <a:pPr lvl="1"/>
                <a:r>
                  <a:rPr lang="en-US" dirty="0"/>
                  <a:t>addition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” is the lowest.</a:t>
                </a:r>
              </a:p>
              <a:p>
                <a:r>
                  <a:rPr lang="en-US" dirty="0"/>
                  <a:t>Of course parentheses can specify precedence by force.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070BC28-B78A-4598-8728-6191C435BE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084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904A2-79D7-4C0A-9DDF-DE550F5E5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EDE30C9D-E3BB-4D1B-AB85-C5CC8F1CA5E9}"/>
              </a:ext>
            </a:extLst>
          </p:cNvPr>
          <p:cNvSpPr/>
          <p:nvPr/>
        </p:nvSpPr>
        <p:spPr>
          <a:xfrm>
            <a:off x="1416000" y="1690688"/>
            <a:ext cx="9360000" cy="428549"/>
          </a:xfrm>
          <a:custGeom>
            <a:avLst/>
            <a:gdLst>
              <a:gd name="connsiteX0" fmla="*/ 76180 w 9360000"/>
              <a:gd name="connsiteY0" fmla="*/ 0 h 428549"/>
              <a:gd name="connsiteX1" fmla="*/ 9283820 w 9360000"/>
              <a:gd name="connsiteY1" fmla="*/ 0 h 428549"/>
              <a:gd name="connsiteX2" fmla="*/ 9360000 w 9360000"/>
              <a:gd name="connsiteY2" fmla="*/ 76180 h 428549"/>
              <a:gd name="connsiteX3" fmla="*/ 9360000 w 9360000"/>
              <a:gd name="connsiteY3" fmla="*/ 428549 h 428549"/>
              <a:gd name="connsiteX4" fmla="*/ 0 w 9360000"/>
              <a:gd name="connsiteY4" fmla="*/ 428549 h 428549"/>
              <a:gd name="connsiteX5" fmla="*/ 0 w 9360000"/>
              <a:gd name="connsiteY5" fmla="*/ 76180 h 428549"/>
              <a:gd name="connsiteX6" fmla="*/ 76180 w 9360000"/>
              <a:gd name="connsiteY6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60000" h="428549">
                <a:moveTo>
                  <a:pt x="76180" y="0"/>
                </a:moveTo>
                <a:lnTo>
                  <a:pt x="9283820" y="0"/>
                </a:lnTo>
                <a:cubicBezTo>
                  <a:pt x="9325893" y="0"/>
                  <a:pt x="9360000" y="34107"/>
                  <a:pt x="9360000" y="76180"/>
                </a:cubicBezTo>
                <a:lnTo>
                  <a:pt x="9360000" y="428549"/>
                </a:lnTo>
                <a:lnTo>
                  <a:pt x="0" y="428549"/>
                </a:lnTo>
                <a:lnTo>
                  <a:pt x="0" y="76180"/>
                </a:lnTo>
                <a:cubicBezTo>
                  <a:pt x="0" y="34107"/>
                  <a:pt x="34107" y="0"/>
                  <a:pt x="76180" y="0"/>
                </a:cubicBezTo>
                <a:close/>
              </a:path>
            </a:pathLst>
          </a:custGeom>
          <a:solidFill>
            <a:srgbClr val="4BACC6">
              <a:lumMod val="75000"/>
            </a:srgbClr>
          </a:solidFill>
          <a:ln w="25400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Example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EC919D1-3D12-4DE2-89D3-3AC81E1B8AB5}"/>
                  </a:ext>
                </a:extLst>
              </p:cNvPr>
              <p:cNvSpPr/>
              <p:nvPr/>
            </p:nvSpPr>
            <p:spPr>
              <a:xfrm>
                <a:off x="1415999" y="2119237"/>
                <a:ext cx="9359999" cy="3834704"/>
              </a:xfrm>
              <a:prstGeom prst="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Some calculations of Boolean expressions.</a:t>
                </a:r>
              </a:p>
              <a:p>
                <a:pPr marL="457200" marR="0" lvl="0" indent="-45720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1+0=1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						(directly from the definition of “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”)</a:t>
                </a:r>
              </a:p>
              <a:p>
                <a:pPr marL="457200" marR="0" lvl="0" indent="-45720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1+0⋅1</m:t>
                    </m:r>
                  </m:oMath>
                </a14:m>
                <a:r>
                  <a:rPr lang="en-US" sz="2400" b="0" i="0" kern="0" dirty="0">
                    <a:solidFill>
                      <a:prstClr val="black"/>
                    </a:solidFill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=1+0=1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	(“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” has the higher precedence)</a:t>
                </a:r>
              </a:p>
              <a:p>
                <a:pPr marL="457200" marR="0" lvl="0" indent="-45720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1+</m:t>
                    </m:r>
                    <m:acc>
                      <m:accPr>
                        <m:chr m:val="̅"/>
                        <m:ctrlP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0⋅1</m:t>
                        </m:r>
                      </m:e>
                    </m:acc>
                  </m:oMath>
                </a14:m>
                <a:r>
                  <a:rPr lang="en-US" sz="2400" b="0" i="0" kern="0" dirty="0">
                    <a:solidFill>
                      <a:prstClr val="black"/>
                    </a:solidFill>
                    <a:latin typeface="+mj-lt"/>
                  </a:rPr>
                  <a:t> 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=1+</m:t>
                    </m:r>
                    <m:acc>
                      <m:accPr>
                        <m:chr m:val="̅"/>
                        <m:ctrlP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en-US" sz="2400" b="0" i="1" kern="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R="0" lvl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  <a:defRPr/>
                </a:pPr>
                <a:r>
                  <a:rPr lang="en-US" sz="2400" b="0" kern="0" dirty="0">
                    <a:solidFill>
                      <a:prstClr val="black"/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=1+1</m:t>
                    </m:r>
                  </m:oMath>
                </a14:m>
                <a:endParaRPr lang="en-US" sz="2400" b="0" i="1" kern="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R="0" lvl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  <a:defRPr/>
                </a:pPr>
                <a:r>
                  <a:rPr lang="en-US" sz="2400" b="0" kern="0" dirty="0">
                    <a:solidFill>
                      <a:prstClr val="black"/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457200" marR="0" lvl="0" indent="-45720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eriod" startAt="4"/>
                  <a:tabLst/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acc>
                          <m:accPr>
                            <m:chr m:val="̅"/>
                            <m:ctrlPr>
                              <a:rPr lang="en-US" sz="2400" b="0" i="1" kern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kern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</m:e>
                    </m:d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en-US" sz="2400" b="0" i="0" kern="0" dirty="0">
                    <a:solidFill>
                      <a:prstClr val="black"/>
                    </a:solidFill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1+1</m:t>
                        </m:r>
                      </m:e>
                    </m:d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R="0" lvl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					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=1⋅</m:t>
                    </m:r>
                    <m:acc>
                      <m:accPr>
                        <m:chr m:val="̅"/>
                        <m:ctrlP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R="0" lvl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					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=1⋅0</m:t>
                    </m:r>
                  </m:oMath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R="0" lvl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					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EC919D1-3D12-4DE2-89D3-3AC81E1B8A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99" y="2119237"/>
                <a:ext cx="9359999" cy="3834704"/>
              </a:xfrm>
              <a:prstGeom prst="rect">
                <a:avLst/>
              </a:prstGeom>
              <a:blipFill>
                <a:blip r:embed="rId2"/>
                <a:stretch>
                  <a:fillRect l="-843" t="-465"/>
                </a:stretch>
              </a:blip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4640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24C72-461A-4334-A5F5-8D73E2DE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EDE8B1F-A1B7-4598-BF1B-86E04CEBED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arithmetic, sometimes we want to express </a:t>
                </a:r>
              </a:p>
              <a:p>
                <a:pPr marL="0" indent="0" algn="ctr">
                  <a:buNone/>
                </a:pPr>
                <a:r>
                  <a:rPr lang="en-US" dirty="0"/>
                  <a:t>“there is an arbitrary number”.</a:t>
                </a:r>
              </a:p>
              <a:p>
                <a:r>
                  <a:rPr lang="en-US" dirty="0"/>
                  <a:t>This number is not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or any element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So, a name, 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is given. This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dirty="0">
                    <a:solidFill>
                      <a:srgbClr val="C00000"/>
                    </a:solidFill>
                  </a:rPr>
                  <a:t>variable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In Boolean algebra, naming is also applied.</a:t>
                </a:r>
              </a:p>
              <a:p>
                <a:r>
                  <a:rPr lang="en-US" dirty="0"/>
                  <a:t>Usually,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are variable names.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EDE8B1F-A1B7-4598-BF1B-86E04CEBED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067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E88C2-3997-4E6D-B391-3E80C79B9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ADFF972-BA0B-40F5-BA8E-5A8CFBAB4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Names,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, are given to Boolean functions.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ADFF972-BA0B-40F5-BA8E-5A8CFBAB4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7F9C43F9-9443-4A3E-BE17-FE966BE8A2FF}"/>
              </a:ext>
            </a:extLst>
          </p:cNvPr>
          <p:cNvSpPr/>
          <p:nvPr/>
        </p:nvSpPr>
        <p:spPr>
          <a:xfrm>
            <a:off x="1416000" y="1825625"/>
            <a:ext cx="9359996" cy="428549"/>
          </a:xfrm>
          <a:custGeom>
            <a:avLst/>
            <a:gdLst>
              <a:gd name="connsiteX0" fmla="*/ 76176 w 9359996"/>
              <a:gd name="connsiteY0" fmla="*/ 0 h 428549"/>
              <a:gd name="connsiteX1" fmla="*/ 9283816 w 9359996"/>
              <a:gd name="connsiteY1" fmla="*/ 0 h 428549"/>
              <a:gd name="connsiteX2" fmla="*/ 9359996 w 9359996"/>
              <a:gd name="connsiteY2" fmla="*/ 76180 h 428549"/>
              <a:gd name="connsiteX3" fmla="*/ 9359996 w 9359996"/>
              <a:gd name="connsiteY3" fmla="*/ 428549 h 428549"/>
              <a:gd name="connsiteX4" fmla="*/ 0 w 9359996"/>
              <a:gd name="connsiteY4" fmla="*/ 428549 h 428549"/>
              <a:gd name="connsiteX5" fmla="*/ 0 w 9359996"/>
              <a:gd name="connsiteY5" fmla="*/ 76161 h 428549"/>
              <a:gd name="connsiteX6" fmla="*/ 5983 w 9359996"/>
              <a:gd name="connsiteY6" fmla="*/ 46527 h 428549"/>
              <a:gd name="connsiteX7" fmla="*/ 76176 w 9359996"/>
              <a:gd name="connsiteY7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59996" h="428549">
                <a:moveTo>
                  <a:pt x="76176" y="0"/>
                </a:moveTo>
                <a:lnTo>
                  <a:pt x="9283816" y="0"/>
                </a:lnTo>
                <a:cubicBezTo>
                  <a:pt x="9325889" y="0"/>
                  <a:pt x="9359996" y="34107"/>
                  <a:pt x="9359996" y="76180"/>
                </a:cubicBezTo>
                <a:lnTo>
                  <a:pt x="9359996" y="428549"/>
                </a:lnTo>
                <a:lnTo>
                  <a:pt x="0" y="428549"/>
                </a:lnTo>
                <a:lnTo>
                  <a:pt x="0" y="76161"/>
                </a:lnTo>
                <a:lnTo>
                  <a:pt x="5983" y="46527"/>
                </a:lnTo>
                <a:cubicBezTo>
                  <a:pt x="17548" y="19185"/>
                  <a:pt x="44621" y="0"/>
                  <a:pt x="76176" y="0"/>
                </a:cubicBezTo>
                <a:close/>
              </a:path>
            </a:pathLst>
          </a:custGeom>
          <a:solidFill>
            <a:srgbClr val="C0504D">
              <a:lumMod val="75000"/>
            </a:srgbClr>
          </a:solidFill>
          <a:ln w="25400" cap="flat" cmpd="sng" algn="ctr">
            <a:solidFill>
              <a:srgbClr val="C0504D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CE85F7-67D2-4B43-B6CA-ED5B573E114D}"/>
              </a:ext>
            </a:extLst>
          </p:cNvPr>
          <p:cNvSpPr/>
          <p:nvPr/>
        </p:nvSpPr>
        <p:spPr>
          <a:xfrm>
            <a:off x="1416000" y="2254174"/>
            <a:ext cx="9360000" cy="83099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20000"/>
                <a:lumOff val="80000"/>
              </a:srgbClr>
            </a:solidFill>
            <a:prstDash val="solid"/>
          </a:ln>
          <a:effectLst>
            <a:outerShdw blurRad="50800" dist="38100" dir="5400000" sx="99000" sy="99000" algn="t" rotWithShape="0">
              <a:prstClr val="black">
                <a:alpha val="40000"/>
              </a:prstClr>
            </a:outerShdw>
          </a:effectLst>
        </p:spPr>
        <p:txBody>
          <a:bodyPr wrap="square" lIns="90000" rtlCol="0" anchor="t" anchorCtr="0">
            <a:spAutoFit/>
          </a:bodyPr>
          <a:lstStyle/>
          <a:p>
            <a:r>
              <a:rPr lang="en-US" sz="2400" dirty="0"/>
              <a:t>A </a:t>
            </a:r>
            <a:r>
              <a:rPr lang="en-US" sz="2400" b="1" dirty="0">
                <a:solidFill>
                  <a:srgbClr val="0070C0"/>
                </a:solidFill>
              </a:rPr>
              <a:t>Boolean function</a:t>
            </a:r>
            <a:r>
              <a:rPr lang="en-US" sz="2400" dirty="0"/>
              <a:t> is a Boolean expression with Boolean variables.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7B74E32-1F27-444C-B6BB-8CA327262CB4}"/>
              </a:ext>
            </a:extLst>
          </p:cNvPr>
          <p:cNvSpPr/>
          <p:nvPr/>
        </p:nvSpPr>
        <p:spPr>
          <a:xfrm>
            <a:off x="1416000" y="4021138"/>
            <a:ext cx="9360000" cy="428549"/>
          </a:xfrm>
          <a:custGeom>
            <a:avLst/>
            <a:gdLst>
              <a:gd name="connsiteX0" fmla="*/ 76180 w 9360000"/>
              <a:gd name="connsiteY0" fmla="*/ 0 h 428549"/>
              <a:gd name="connsiteX1" fmla="*/ 9283820 w 9360000"/>
              <a:gd name="connsiteY1" fmla="*/ 0 h 428549"/>
              <a:gd name="connsiteX2" fmla="*/ 9360000 w 9360000"/>
              <a:gd name="connsiteY2" fmla="*/ 76180 h 428549"/>
              <a:gd name="connsiteX3" fmla="*/ 9360000 w 9360000"/>
              <a:gd name="connsiteY3" fmla="*/ 428549 h 428549"/>
              <a:gd name="connsiteX4" fmla="*/ 0 w 9360000"/>
              <a:gd name="connsiteY4" fmla="*/ 428549 h 428549"/>
              <a:gd name="connsiteX5" fmla="*/ 0 w 9360000"/>
              <a:gd name="connsiteY5" fmla="*/ 76180 h 428549"/>
              <a:gd name="connsiteX6" fmla="*/ 76180 w 9360000"/>
              <a:gd name="connsiteY6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60000" h="428549">
                <a:moveTo>
                  <a:pt x="76180" y="0"/>
                </a:moveTo>
                <a:lnTo>
                  <a:pt x="9283820" y="0"/>
                </a:lnTo>
                <a:cubicBezTo>
                  <a:pt x="9325893" y="0"/>
                  <a:pt x="9360000" y="34107"/>
                  <a:pt x="9360000" y="76180"/>
                </a:cubicBezTo>
                <a:lnTo>
                  <a:pt x="9360000" y="428549"/>
                </a:lnTo>
                <a:lnTo>
                  <a:pt x="0" y="428549"/>
                </a:lnTo>
                <a:lnTo>
                  <a:pt x="0" y="76180"/>
                </a:lnTo>
                <a:cubicBezTo>
                  <a:pt x="0" y="34107"/>
                  <a:pt x="34107" y="0"/>
                  <a:pt x="76180" y="0"/>
                </a:cubicBezTo>
                <a:close/>
              </a:path>
            </a:pathLst>
          </a:custGeom>
          <a:solidFill>
            <a:srgbClr val="4BACC6">
              <a:lumMod val="75000"/>
            </a:srgbClr>
          </a:solidFill>
          <a:ln w="25400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Example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932C9B1-0983-4CCB-B2B9-401956B547C7}"/>
                  </a:ext>
                </a:extLst>
              </p:cNvPr>
              <p:cNvSpPr/>
              <p:nvPr/>
            </p:nvSpPr>
            <p:spPr>
              <a:xfrm>
                <a:off x="1415999" y="4449687"/>
                <a:ext cx="9359999" cy="830997"/>
              </a:xfrm>
              <a:prstGeom prst="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acc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+1⋅</m:t>
                      </m:r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is a Boolean function named 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with one variable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932C9B1-0983-4CCB-B2B9-401956B547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99" y="4449687"/>
                <a:ext cx="9359999" cy="830997"/>
              </a:xfrm>
              <a:prstGeom prst="rect">
                <a:avLst/>
              </a:prstGeom>
              <a:blipFill>
                <a:blip r:embed="rId3"/>
                <a:stretch>
                  <a:fillRect l="-778" b="-3822"/>
                </a:stretch>
              </a:blip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831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951E2-B499-4BC3-80FB-5165A24FD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FF09501-AE1C-4F2A-9800-92444378B8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value of a Boolean function (usually) cannot be calculated.</a:t>
                </a:r>
              </a:p>
              <a:p>
                <a:r>
                  <a:rPr lang="en-US" dirty="0"/>
                  <a:t>Because the value of a variable is unknown.</a:t>
                </a:r>
              </a:p>
              <a:p>
                <a:r>
                  <a:rPr lang="en-US" dirty="0"/>
                  <a:t>To analyze the behavior of a Boolean function, enumerate all possible assignments to variables by</a:t>
                </a:r>
              </a:p>
              <a:p>
                <a:pPr marL="0" indent="0" algn="ctr">
                  <a:buNone/>
                </a:pPr>
                <a:r>
                  <a:rPr lang="en-US" dirty="0"/>
                  <a:t>“When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=…</m:t>
                    </m:r>
                  </m:oMath>
                </a14:m>
                <a:r>
                  <a:rPr lang="en-US" dirty="0"/>
                  <a:t>”</a:t>
                </a:r>
              </a:p>
              <a:p>
                <a:r>
                  <a:rPr lang="en-US" dirty="0"/>
                  <a:t>This analysis can be presented as a table, the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truth table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FF09501-AE1C-4F2A-9800-92444378B8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905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859714-9E73-45C0-A7C3-0616FCFB3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F7CB898-64F1-405D-9659-770992939BE1}"/>
              </a:ext>
            </a:extLst>
          </p:cNvPr>
          <p:cNvSpPr/>
          <p:nvPr/>
        </p:nvSpPr>
        <p:spPr>
          <a:xfrm>
            <a:off x="1416000" y="1690688"/>
            <a:ext cx="9360000" cy="428549"/>
          </a:xfrm>
          <a:custGeom>
            <a:avLst/>
            <a:gdLst>
              <a:gd name="connsiteX0" fmla="*/ 76180 w 9360000"/>
              <a:gd name="connsiteY0" fmla="*/ 0 h 428549"/>
              <a:gd name="connsiteX1" fmla="*/ 9283820 w 9360000"/>
              <a:gd name="connsiteY1" fmla="*/ 0 h 428549"/>
              <a:gd name="connsiteX2" fmla="*/ 9360000 w 9360000"/>
              <a:gd name="connsiteY2" fmla="*/ 76180 h 428549"/>
              <a:gd name="connsiteX3" fmla="*/ 9360000 w 9360000"/>
              <a:gd name="connsiteY3" fmla="*/ 428549 h 428549"/>
              <a:gd name="connsiteX4" fmla="*/ 0 w 9360000"/>
              <a:gd name="connsiteY4" fmla="*/ 428549 h 428549"/>
              <a:gd name="connsiteX5" fmla="*/ 0 w 9360000"/>
              <a:gd name="connsiteY5" fmla="*/ 76180 h 428549"/>
              <a:gd name="connsiteX6" fmla="*/ 76180 w 9360000"/>
              <a:gd name="connsiteY6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60000" h="428549">
                <a:moveTo>
                  <a:pt x="76180" y="0"/>
                </a:moveTo>
                <a:lnTo>
                  <a:pt x="9283820" y="0"/>
                </a:lnTo>
                <a:cubicBezTo>
                  <a:pt x="9325893" y="0"/>
                  <a:pt x="9360000" y="34107"/>
                  <a:pt x="9360000" y="76180"/>
                </a:cubicBezTo>
                <a:lnTo>
                  <a:pt x="9360000" y="428549"/>
                </a:lnTo>
                <a:lnTo>
                  <a:pt x="0" y="428549"/>
                </a:lnTo>
                <a:lnTo>
                  <a:pt x="0" y="76180"/>
                </a:lnTo>
                <a:cubicBezTo>
                  <a:pt x="0" y="34107"/>
                  <a:pt x="34107" y="0"/>
                  <a:pt x="76180" y="0"/>
                </a:cubicBezTo>
                <a:close/>
              </a:path>
            </a:pathLst>
          </a:custGeom>
          <a:solidFill>
            <a:srgbClr val="4BACC6">
              <a:lumMod val="75000"/>
            </a:srgbClr>
          </a:solidFill>
          <a:ln w="25400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Example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4D84FC6-B075-4CDB-9BA0-83A5710715C5}"/>
                  </a:ext>
                </a:extLst>
              </p:cNvPr>
              <p:cNvSpPr/>
              <p:nvPr/>
            </p:nvSpPr>
            <p:spPr>
              <a:xfrm>
                <a:off x="1415999" y="2119237"/>
                <a:ext cx="9359999" cy="2677656"/>
              </a:xfrm>
              <a:prstGeom prst="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truth table of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acc>
                      <m:accPr>
                        <m:chr m:val="̅"/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acc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+1⋅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is</a:t>
                </a: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kern="0" dirty="0">
                  <a:solidFill>
                    <a:prstClr val="black"/>
                  </a:solidFill>
                  <a:latin typeface="Calibri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kern="0" dirty="0">
                  <a:solidFill>
                    <a:prstClr val="black"/>
                  </a:solidFill>
                  <a:latin typeface="Calibri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For example, the 1</a:t>
                </a:r>
                <a:r>
                  <a:rPr kumimoji="0" lang="en-US" altLang="zh-CN" sz="2400" b="0" i="0" u="none" strike="noStrike" kern="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st</a:t>
                </a: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row presents the case when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</m:t>
                    </m:r>
                  </m:oMath>
                </a14:m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.</a:t>
                </a: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Column 2 &amp; 3 show the intermediate results to help the analysis.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4D84FC6-B075-4CDB-9BA0-83A5710715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99" y="2119237"/>
                <a:ext cx="9359999" cy="2677656"/>
              </a:xfrm>
              <a:prstGeom prst="rect">
                <a:avLst/>
              </a:prstGeom>
              <a:blipFill>
                <a:blip r:embed="rId2"/>
                <a:stretch>
                  <a:fillRect l="-778" t="-656" b="-1313"/>
                </a:stretch>
              </a:blip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EA0E518E-8921-44B7-B390-90D01ACD36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7631423"/>
                  </p:ext>
                </p:extLst>
              </p:nvPr>
            </p:nvGraphicFramePr>
            <p:xfrm>
              <a:off x="2844798" y="2669116"/>
              <a:ext cx="6502400" cy="111252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5949132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117284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51667771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103719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6905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47370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78181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EA0E518E-8921-44B7-B390-90D01ACD36C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7631423"/>
                  </p:ext>
                </p:extLst>
              </p:nvPr>
            </p:nvGraphicFramePr>
            <p:xfrm>
              <a:off x="2844798" y="2669116"/>
              <a:ext cx="6502400" cy="111252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5949132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117284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51667771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103719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1639" r="-30074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1639" r="-20074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375" t="-1639" r="-10074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375" t="-1639" r="-749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6905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100000" r="-300749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100000" r="-200749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375" t="-100000" r="-100749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375" t="-100000" r="-749" b="-1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47370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203279" r="-30074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203279" r="-20074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375" t="-203279" r="-10074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375" t="-203279" r="-749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1814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1450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D1957-17BB-4687-996C-79BF2CCB4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69C5021-540F-4ED8-823D-89AB07C6E5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Boolean functions may have multiple variables, 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All possible assignments are (all combinations, 4 in total)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;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Thus,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69C5021-540F-4ED8-823D-89AB07C6E5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69A91458-BB2B-4542-BC30-63A56AB5A8EF}"/>
              </a:ext>
            </a:extLst>
          </p:cNvPr>
          <p:cNvSpPr/>
          <p:nvPr/>
        </p:nvSpPr>
        <p:spPr>
          <a:xfrm>
            <a:off x="1416000" y="3914819"/>
            <a:ext cx="9359998" cy="428549"/>
          </a:xfrm>
          <a:custGeom>
            <a:avLst/>
            <a:gdLst>
              <a:gd name="connsiteX0" fmla="*/ 76180 w 9359998"/>
              <a:gd name="connsiteY0" fmla="*/ 0 h 428549"/>
              <a:gd name="connsiteX1" fmla="*/ 9283820 w 9359998"/>
              <a:gd name="connsiteY1" fmla="*/ 0 h 428549"/>
              <a:gd name="connsiteX2" fmla="*/ 9354013 w 9359998"/>
              <a:gd name="connsiteY2" fmla="*/ 46528 h 428549"/>
              <a:gd name="connsiteX3" fmla="*/ 9359998 w 9359998"/>
              <a:gd name="connsiteY3" fmla="*/ 76171 h 428549"/>
              <a:gd name="connsiteX4" fmla="*/ 9359998 w 9359998"/>
              <a:gd name="connsiteY4" fmla="*/ 428549 h 428549"/>
              <a:gd name="connsiteX5" fmla="*/ 0 w 9359998"/>
              <a:gd name="connsiteY5" fmla="*/ 428549 h 428549"/>
              <a:gd name="connsiteX6" fmla="*/ 0 w 9359998"/>
              <a:gd name="connsiteY6" fmla="*/ 76180 h 428549"/>
              <a:gd name="connsiteX7" fmla="*/ 76180 w 9359998"/>
              <a:gd name="connsiteY7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59998" h="428549">
                <a:moveTo>
                  <a:pt x="76180" y="0"/>
                </a:moveTo>
                <a:lnTo>
                  <a:pt x="9283820" y="0"/>
                </a:lnTo>
                <a:cubicBezTo>
                  <a:pt x="9315375" y="0"/>
                  <a:pt x="9342449" y="19185"/>
                  <a:pt x="9354013" y="46528"/>
                </a:cubicBezTo>
                <a:lnTo>
                  <a:pt x="9359998" y="76171"/>
                </a:lnTo>
                <a:lnTo>
                  <a:pt x="9359998" y="428549"/>
                </a:lnTo>
                <a:lnTo>
                  <a:pt x="0" y="428549"/>
                </a:lnTo>
                <a:lnTo>
                  <a:pt x="0" y="76180"/>
                </a:lnTo>
                <a:cubicBezTo>
                  <a:pt x="0" y="34107"/>
                  <a:pt x="34107" y="0"/>
                  <a:pt x="76180" y="0"/>
                </a:cubicBezTo>
                <a:close/>
              </a:path>
            </a:pathLst>
          </a:custGeom>
          <a:solidFill>
            <a:srgbClr val="9BBB59">
              <a:lumMod val="50000"/>
            </a:srgbClr>
          </a:solidFill>
          <a:ln w="25400" cap="flat" cmpd="sng" algn="ctr">
            <a:solidFill>
              <a:srgbClr val="9BBB59">
                <a:lumMod val="50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Property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5A55141-89AA-46E8-B5A3-31D3DE604C2F}"/>
                  </a:ext>
                </a:extLst>
              </p:cNvPr>
              <p:cNvSpPr/>
              <p:nvPr/>
            </p:nvSpPr>
            <p:spPr>
              <a:xfrm>
                <a:off x="1415999" y="4379734"/>
                <a:ext cx="9359999" cy="461665"/>
              </a:xfrm>
              <a:prstGeom prst="rect">
                <a:avLst/>
              </a:prstGeom>
              <a:solidFill>
                <a:srgbClr val="9BBB59">
                  <a:lumMod val="20000"/>
                  <a:lumOff val="80000"/>
                </a:srgbClr>
              </a:solidFill>
              <a:ln w="25400" cap="flat" cmpd="sng" algn="ctr">
                <a:solidFill>
                  <a:srgbClr val="9BBB59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A Boolean function of 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variables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rows</a:t>
                </a:r>
                <a:r>
                  <a:rPr kumimoji="0" lang="en-US" sz="2400" b="0" i="0" u="none" strike="noStrike" kern="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in its truth table.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5A55141-89AA-46E8-B5A3-31D3DE604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99" y="4379734"/>
                <a:ext cx="9359999" cy="461665"/>
              </a:xfrm>
              <a:prstGeom prst="rect">
                <a:avLst/>
              </a:prstGeom>
              <a:blipFill>
                <a:blip r:embed="rId3"/>
                <a:stretch>
                  <a:fillRect l="-778" t="-3093" b="-6186"/>
                </a:stretch>
              </a:blipFill>
              <a:ln w="25400" cap="flat" cmpd="sng" algn="ctr">
                <a:solidFill>
                  <a:srgbClr val="9BBB59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617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EADA4-C1B9-4B75-9E1D-0926AC8BD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Identity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BC940B-C321-4CA6-810D-F6D9668A8D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Some Boolean functions behave exactly the same on all possible assignments, even if they are different expressions. </a:t>
                </a:r>
              </a:p>
              <a:p>
                <a:r>
                  <a:rPr lang="en-US" dirty="0"/>
                  <a:t>For example,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This is called </a:t>
                </a:r>
                <a:r>
                  <a:rPr lang="en-US" b="1" dirty="0">
                    <a:solidFill>
                      <a:srgbClr val="C00000"/>
                    </a:solidFill>
                  </a:rPr>
                  <a:t>Boolean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C00000"/>
                    </a:solidFill>
                  </a:rPr>
                  <a:t>identity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BC940B-C321-4CA6-810D-F6D9668A8D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5147BE0-1B0D-4CAE-9353-64B8B2D820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1530655"/>
                  </p:ext>
                </p:extLst>
              </p:nvPr>
            </p:nvGraphicFramePr>
            <p:xfrm>
              <a:off x="2844798" y="3354916"/>
              <a:ext cx="6502400" cy="18542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5949132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117284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51667771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103719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6905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47370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70696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1377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78181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15147BE0-1B0D-4CAE-9353-64B8B2D820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1530655"/>
                  </p:ext>
                </p:extLst>
              </p:nvPr>
            </p:nvGraphicFramePr>
            <p:xfrm>
              <a:off x="2844798" y="3354916"/>
              <a:ext cx="6502400" cy="18542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15949132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1172849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51667771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1037195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1639" r="-300749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1639" r="-200749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375" t="-1639" r="-100749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375" t="-1639" r="-749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6905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101639" r="-30074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101639" r="-20074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375" t="-101639" r="-10074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375" t="-101639" r="-74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47370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201639" r="-30074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201639" r="-20074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375" t="-201639" r="-10074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375" t="-201639" r="-749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70696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301639" r="-30074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301639" r="-20074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375" t="-301639" r="-10074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375" t="-301639" r="-749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13773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5" t="-401639" r="-30074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75" t="-401639" r="-20074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375" t="-401639" r="-10074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375" t="-401639" r="-749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781814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3246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EADA4-C1B9-4B75-9E1D-0926AC8BD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Identity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BC940B-C321-4CA6-810D-F6D9668A8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Formally,</a:t>
            </a: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8E1229D2-F361-4507-84F8-720BD80528C9}"/>
              </a:ext>
            </a:extLst>
          </p:cNvPr>
          <p:cNvSpPr/>
          <p:nvPr/>
        </p:nvSpPr>
        <p:spPr>
          <a:xfrm>
            <a:off x="1416000" y="2378075"/>
            <a:ext cx="9359996" cy="428549"/>
          </a:xfrm>
          <a:custGeom>
            <a:avLst/>
            <a:gdLst>
              <a:gd name="connsiteX0" fmla="*/ 76176 w 9359996"/>
              <a:gd name="connsiteY0" fmla="*/ 0 h 428549"/>
              <a:gd name="connsiteX1" fmla="*/ 9283816 w 9359996"/>
              <a:gd name="connsiteY1" fmla="*/ 0 h 428549"/>
              <a:gd name="connsiteX2" fmla="*/ 9359996 w 9359996"/>
              <a:gd name="connsiteY2" fmla="*/ 76180 h 428549"/>
              <a:gd name="connsiteX3" fmla="*/ 9359996 w 9359996"/>
              <a:gd name="connsiteY3" fmla="*/ 428549 h 428549"/>
              <a:gd name="connsiteX4" fmla="*/ 0 w 9359996"/>
              <a:gd name="connsiteY4" fmla="*/ 428549 h 428549"/>
              <a:gd name="connsiteX5" fmla="*/ 0 w 9359996"/>
              <a:gd name="connsiteY5" fmla="*/ 76161 h 428549"/>
              <a:gd name="connsiteX6" fmla="*/ 5983 w 9359996"/>
              <a:gd name="connsiteY6" fmla="*/ 46527 h 428549"/>
              <a:gd name="connsiteX7" fmla="*/ 76176 w 9359996"/>
              <a:gd name="connsiteY7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59996" h="428549">
                <a:moveTo>
                  <a:pt x="76176" y="0"/>
                </a:moveTo>
                <a:lnTo>
                  <a:pt x="9283816" y="0"/>
                </a:lnTo>
                <a:cubicBezTo>
                  <a:pt x="9325889" y="0"/>
                  <a:pt x="9359996" y="34107"/>
                  <a:pt x="9359996" y="76180"/>
                </a:cubicBezTo>
                <a:lnTo>
                  <a:pt x="9359996" y="428549"/>
                </a:lnTo>
                <a:lnTo>
                  <a:pt x="0" y="428549"/>
                </a:lnTo>
                <a:lnTo>
                  <a:pt x="0" y="76161"/>
                </a:lnTo>
                <a:lnTo>
                  <a:pt x="5983" y="46527"/>
                </a:lnTo>
                <a:cubicBezTo>
                  <a:pt x="17548" y="19185"/>
                  <a:pt x="44621" y="0"/>
                  <a:pt x="76176" y="0"/>
                </a:cubicBezTo>
                <a:close/>
              </a:path>
            </a:pathLst>
          </a:custGeom>
          <a:solidFill>
            <a:srgbClr val="C0504D">
              <a:lumMod val="75000"/>
            </a:srgbClr>
          </a:solidFill>
          <a:ln w="25400" cap="flat" cmpd="sng" algn="ctr">
            <a:solidFill>
              <a:srgbClr val="C0504D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EC8017-3C5B-4AEA-904B-0314587B4A88}"/>
              </a:ext>
            </a:extLst>
          </p:cNvPr>
          <p:cNvSpPr/>
          <p:nvPr/>
        </p:nvSpPr>
        <p:spPr>
          <a:xfrm>
            <a:off x="1416000" y="2806624"/>
            <a:ext cx="9360000" cy="830997"/>
          </a:xfrm>
          <a:prstGeom prst="rect">
            <a:avLst/>
          </a:prstGeom>
          <a:solidFill>
            <a:srgbClr val="C0504D">
              <a:lumMod val="20000"/>
              <a:lumOff val="80000"/>
            </a:srgbClr>
          </a:solidFill>
          <a:ln w="25400" cap="flat" cmpd="sng" algn="ctr">
            <a:solidFill>
              <a:srgbClr val="C0504D">
                <a:lumMod val="20000"/>
                <a:lumOff val="80000"/>
              </a:srgbClr>
            </a:solidFill>
            <a:prstDash val="solid"/>
          </a:ln>
          <a:effectLst>
            <a:outerShdw blurRad="50800" dist="38100" dir="5400000" sx="99000" sy="99000" algn="t" rotWithShape="0">
              <a:prstClr val="black">
                <a:alpha val="40000"/>
              </a:prstClr>
            </a:outerShdw>
          </a:effectLst>
        </p:spPr>
        <p:txBody>
          <a:bodyPr wrap="square" lIns="90000" rtlCol="0" anchor="t" anchorCtr="0">
            <a:spAutoFit/>
          </a:bodyPr>
          <a:lstStyle/>
          <a:p>
            <a:r>
              <a:rPr lang="en-US" sz="2400" dirty="0"/>
              <a:t>Two Boolean functions are </a:t>
            </a:r>
            <a:r>
              <a:rPr lang="en-US" sz="2400" b="1" dirty="0">
                <a:solidFill>
                  <a:srgbClr val="0070C0"/>
                </a:solidFill>
              </a:rPr>
              <a:t>identical</a:t>
            </a:r>
            <a:r>
              <a:rPr lang="en-US" sz="2400" dirty="0"/>
              <a:t> if they have the same value for all possible assignments.</a:t>
            </a:r>
          </a:p>
        </p:txBody>
      </p:sp>
    </p:spTree>
    <p:extLst>
      <p:ext uri="{BB962C8B-B14F-4D97-AF65-F5344CB8AC3E}">
        <p14:creationId xmlns:p14="http://schemas.microsoft.com/office/powerpoint/2010/main" val="439930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51C0D-51DE-4F83-AECE-77E0C52A9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176CBF2-50FE-4112-8DA3-66D6357022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two Boolean functions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are identical.</a:t>
                </a:r>
              </a:p>
              <a:p>
                <a:r>
                  <a:rPr lang="en-US" dirty="0"/>
                  <a:t>But,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more complex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(more operators).</a:t>
                </a:r>
              </a:p>
              <a:p>
                <a:r>
                  <a:rPr lang="en-US" dirty="0"/>
                  <a:t>For an application </a:t>
                </a:r>
                <a:r>
                  <a:rPr lang="en-US" altLang="zh-CN" dirty="0"/>
                  <a:t>purpose, calculating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is cheaper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manipulation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is called </a:t>
                </a:r>
                <a:r>
                  <a:rPr lang="en-US" b="1" dirty="0">
                    <a:solidFill>
                      <a:srgbClr val="C00000"/>
                    </a:solidFill>
                  </a:rPr>
                  <a:t>simplification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For example,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can be simplified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176CBF2-50FE-4112-8DA3-66D6357022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366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A41AF-D2D6-4346-BCAA-25EDDDF1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22DEE4-4EC1-4BCC-B78D-232752B90F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To simplify Boolean functions, we can use laws.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Identity Law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⋅1=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Idempotent Law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Domination Law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+1=1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⋅0=0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Double Complement Law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22DEE4-4EC1-4BCC-B78D-232752B90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58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A41AF-D2D6-4346-BCAA-25EDDDF1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22DEE4-4EC1-4BCC-B78D-232752B90F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To simplify Boolean functions, we can use laws.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Commutative Law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Associative Law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De Morgan's Law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22DEE4-4EC1-4BCC-B78D-232752B90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970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A41AF-D2D6-4346-BCAA-25EDDDF1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22DEE4-4EC1-4BCC-B78D-232752B90F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To simplify Boolean functions, we can use laws.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Distributive Law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Absorption Law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Unit Property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Zero Property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22DEE4-4EC1-4BCC-B78D-232752B90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79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4AD241-95EF-4669-837F-CCE3C0A5F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Simplification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F611E749-5D66-4918-BBB2-F10EC84004A8}"/>
              </a:ext>
            </a:extLst>
          </p:cNvPr>
          <p:cNvSpPr/>
          <p:nvPr/>
        </p:nvSpPr>
        <p:spPr>
          <a:xfrm>
            <a:off x="1416000" y="1690688"/>
            <a:ext cx="9360000" cy="428549"/>
          </a:xfrm>
          <a:custGeom>
            <a:avLst/>
            <a:gdLst>
              <a:gd name="connsiteX0" fmla="*/ 76180 w 9360000"/>
              <a:gd name="connsiteY0" fmla="*/ 0 h 428549"/>
              <a:gd name="connsiteX1" fmla="*/ 9283820 w 9360000"/>
              <a:gd name="connsiteY1" fmla="*/ 0 h 428549"/>
              <a:gd name="connsiteX2" fmla="*/ 9360000 w 9360000"/>
              <a:gd name="connsiteY2" fmla="*/ 76180 h 428549"/>
              <a:gd name="connsiteX3" fmla="*/ 9360000 w 9360000"/>
              <a:gd name="connsiteY3" fmla="*/ 428549 h 428549"/>
              <a:gd name="connsiteX4" fmla="*/ 0 w 9360000"/>
              <a:gd name="connsiteY4" fmla="*/ 428549 h 428549"/>
              <a:gd name="connsiteX5" fmla="*/ 0 w 9360000"/>
              <a:gd name="connsiteY5" fmla="*/ 76180 h 428549"/>
              <a:gd name="connsiteX6" fmla="*/ 76180 w 9360000"/>
              <a:gd name="connsiteY6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60000" h="428549">
                <a:moveTo>
                  <a:pt x="76180" y="0"/>
                </a:moveTo>
                <a:lnTo>
                  <a:pt x="9283820" y="0"/>
                </a:lnTo>
                <a:cubicBezTo>
                  <a:pt x="9325893" y="0"/>
                  <a:pt x="9360000" y="34107"/>
                  <a:pt x="9360000" y="76180"/>
                </a:cubicBezTo>
                <a:lnTo>
                  <a:pt x="9360000" y="428549"/>
                </a:lnTo>
                <a:lnTo>
                  <a:pt x="0" y="428549"/>
                </a:lnTo>
                <a:lnTo>
                  <a:pt x="0" y="76180"/>
                </a:lnTo>
                <a:cubicBezTo>
                  <a:pt x="0" y="34107"/>
                  <a:pt x="34107" y="0"/>
                  <a:pt x="76180" y="0"/>
                </a:cubicBezTo>
                <a:close/>
              </a:path>
            </a:pathLst>
          </a:custGeom>
          <a:solidFill>
            <a:srgbClr val="4BACC6">
              <a:lumMod val="75000"/>
            </a:srgbClr>
          </a:solidFill>
          <a:ln w="25400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Example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89C1E22-31CC-420A-96FD-4B9ABAD1D64F}"/>
                  </a:ext>
                </a:extLst>
              </p:cNvPr>
              <p:cNvSpPr/>
              <p:nvPr/>
            </p:nvSpPr>
            <p:spPr>
              <a:xfrm>
                <a:off x="1415999" y="2119237"/>
                <a:ext cx="9359999" cy="461665"/>
              </a:xfrm>
              <a:prstGeom prst="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Simplify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d>
                      <m:dPr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acc>
                      <m:accPr>
                        <m:chr m:val="̅"/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by Boolean identities.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89C1E22-31CC-420A-96FD-4B9ABAD1D6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99" y="2119237"/>
                <a:ext cx="9359999" cy="461665"/>
              </a:xfrm>
              <a:prstGeom prst="rect">
                <a:avLst/>
              </a:prstGeom>
              <a:blipFill>
                <a:blip r:embed="rId2"/>
                <a:stretch>
                  <a:fillRect l="-778" t="-3125" b="-7292"/>
                </a:stretch>
              </a:blip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735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4AD241-95EF-4669-837F-CCE3C0A5F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Simplification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F611E749-5D66-4918-BBB2-F10EC84004A8}"/>
              </a:ext>
            </a:extLst>
          </p:cNvPr>
          <p:cNvSpPr/>
          <p:nvPr/>
        </p:nvSpPr>
        <p:spPr>
          <a:xfrm>
            <a:off x="1416000" y="1690688"/>
            <a:ext cx="9360000" cy="428549"/>
          </a:xfrm>
          <a:custGeom>
            <a:avLst/>
            <a:gdLst>
              <a:gd name="connsiteX0" fmla="*/ 76180 w 9360000"/>
              <a:gd name="connsiteY0" fmla="*/ 0 h 428549"/>
              <a:gd name="connsiteX1" fmla="*/ 9283820 w 9360000"/>
              <a:gd name="connsiteY1" fmla="*/ 0 h 428549"/>
              <a:gd name="connsiteX2" fmla="*/ 9360000 w 9360000"/>
              <a:gd name="connsiteY2" fmla="*/ 76180 h 428549"/>
              <a:gd name="connsiteX3" fmla="*/ 9360000 w 9360000"/>
              <a:gd name="connsiteY3" fmla="*/ 428549 h 428549"/>
              <a:gd name="connsiteX4" fmla="*/ 0 w 9360000"/>
              <a:gd name="connsiteY4" fmla="*/ 428549 h 428549"/>
              <a:gd name="connsiteX5" fmla="*/ 0 w 9360000"/>
              <a:gd name="connsiteY5" fmla="*/ 76180 h 428549"/>
              <a:gd name="connsiteX6" fmla="*/ 76180 w 9360000"/>
              <a:gd name="connsiteY6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60000" h="428549">
                <a:moveTo>
                  <a:pt x="76180" y="0"/>
                </a:moveTo>
                <a:lnTo>
                  <a:pt x="9283820" y="0"/>
                </a:lnTo>
                <a:cubicBezTo>
                  <a:pt x="9325893" y="0"/>
                  <a:pt x="9360000" y="34107"/>
                  <a:pt x="9360000" y="76180"/>
                </a:cubicBezTo>
                <a:lnTo>
                  <a:pt x="9360000" y="428549"/>
                </a:lnTo>
                <a:lnTo>
                  <a:pt x="0" y="428549"/>
                </a:lnTo>
                <a:lnTo>
                  <a:pt x="0" y="76180"/>
                </a:lnTo>
                <a:cubicBezTo>
                  <a:pt x="0" y="34107"/>
                  <a:pt x="34107" y="0"/>
                  <a:pt x="76180" y="0"/>
                </a:cubicBezTo>
                <a:close/>
              </a:path>
            </a:pathLst>
          </a:custGeom>
          <a:solidFill>
            <a:srgbClr val="4BACC6">
              <a:lumMod val="75000"/>
            </a:srgbClr>
          </a:solidFill>
          <a:ln w="25400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Example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89C1E22-31CC-420A-96FD-4B9ABAD1D64F}"/>
                  </a:ext>
                </a:extLst>
              </p:cNvPr>
              <p:cNvSpPr/>
              <p:nvPr/>
            </p:nvSpPr>
            <p:spPr>
              <a:xfrm>
                <a:off x="1415999" y="2119237"/>
                <a:ext cx="9359999" cy="4202497"/>
              </a:xfrm>
              <a:prstGeom prst="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pPr lvl="0" defTabSz="36036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Simplify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d>
                      <m:dPr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acc>
                      <m:accPr>
                        <m:chr m:val="̅"/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 by Boolean identities.</a:t>
                </a: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Ans.</a:t>
                </a: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			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d>
                      <m:dPr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acc>
                      <m:accPr>
                        <m:chr m:val="̅"/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</m:oMath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⋅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⋅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</m:d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acc>
                      <m:accPr>
                        <m:chr m:val="̅"/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		Distribution</a:t>
                </a:r>
              </a:p>
              <a:p>
                <a:pPr lvl="0" defTabSz="36036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acc>
                      <m:accPr>
                        <m:chr m:val="̅"/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  <m:r>
                      <a:rPr lang="en-US" sz="2400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sz="2400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ker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		Commutative</a:t>
                </a:r>
              </a:p>
              <a:p>
                <a:pPr lvl="0" defTabSz="36036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̅"/>
                            <m:ctrlPr>
                              <a:rPr lang="en-US" sz="2400" b="0" i="1" kern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kern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ker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		Associative</a:t>
                </a:r>
              </a:p>
              <a:p>
                <a:pPr lvl="0" defTabSz="36036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⋅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⋅</m:t>
                        </m:r>
                        <m:acc>
                          <m:accPr>
                            <m:chr m:val="̅"/>
                            <m:ctrlPr>
                              <a:rPr kumimoji="0" lang="en-US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		Commutative</a:t>
                </a:r>
              </a:p>
              <a:p>
                <a:pPr lvl="0" defTabSz="36036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sz="2400" b="0" i="1" kern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kern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b="0" i="1" kern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lang="en-US" sz="2400" b="0" i="1" kern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kern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			Distribution</a:t>
                </a:r>
              </a:p>
              <a:p>
                <a:pPr lvl="0" defTabSz="36036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⋅1</m:t>
                        </m:r>
                      </m:e>
                    </m:d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					Unit</a:t>
                </a:r>
              </a:p>
              <a:p>
                <a:pPr lvl="0" defTabSz="36036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							Identity</a:t>
                </a:r>
              </a:p>
              <a:p>
                <a:pPr lvl="0" defTabSz="360363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										Absorption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89C1E22-31CC-420A-96FD-4B9ABAD1D6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99" y="2119237"/>
                <a:ext cx="9359999" cy="4202497"/>
              </a:xfrm>
              <a:prstGeom prst="rect">
                <a:avLst/>
              </a:prstGeom>
              <a:blipFill>
                <a:blip r:embed="rId2"/>
                <a:stretch>
                  <a:fillRect l="-778" t="-426" b="-994"/>
                </a:stretch>
              </a:blip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8442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17F11B-39A5-4ECB-8A69-33AE7C6A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Interpretation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95CF6F-B409-4C0D-940D-3B30D74B8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Boolean algebra is isomorphic to Propositional logic (if you still remember MATH2003 Lecture 1 &amp; 2).</a:t>
            </a:r>
          </a:p>
          <a:p>
            <a:r>
              <a:rPr lang="en-US" dirty="0"/>
              <a:t>In fact, this is where George Boole started.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A76B0C4-8213-447C-9D9C-38FDAB42D4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5226062"/>
                  </p:ext>
                </p:extLst>
              </p:nvPr>
            </p:nvGraphicFramePr>
            <p:xfrm>
              <a:off x="2545927" y="3354057"/>
              <a:ext cx="7100146" cy="22441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1480">
                      <a:extLst>
                        <a:ext uri="{9D8B030D-6E8A-4147-A177-3AD203B41FA5}">
                          <a16:colId xmlns:a16="http://schemas.microsoft.com/office/drawing/2014/main" val="410368379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0262539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5681079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Isomorphism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Boolean algebra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Propositional logic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5329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Constant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2572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Constant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6927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886448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166729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/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05894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BA76B0C4-8213-447C-9D9C-38FDAB42D4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65226062"/>
                  </p:ext>
                </p:extLst>
              </p:nvPr>
            </p:nvGraphicFramePr>
            <p:xfrm>
              <a:off x="2545927" y="3354057"/>
              <a:ext cx="7100146" cy="22441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1480">
                      <a:extLst>
                        <a:ext uri="{9D8B030D-6E8A-4147-A177-3AD203B41FA5}">
                          <a16:colId xmlns:a16="http://schemas.microsoft.com/office/drawing/2014/main" val="410368379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0262539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5681079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Isomorphism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Boolean algebra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Propositional logic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353295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Constant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2247" t="-108197" r="-100899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2247" t="-108197" r="-899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5725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Constant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2247" t="-208197" r="-100899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2247" t="-208197" r="-899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69272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2247" t="-308197" r="-100899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2247" t="-308197" r="-899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86448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2247" t="-408197" r="-10089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2247" t="-408197" r="-899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672906"/>
                      </a:ext>
                    </a:extLst>
                  </a:tr>
                  <a:tr h="3899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Operator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2247" t="-484375" r="-100899" b="-17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2247" t="-484375" r="-899" b="-17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05894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75276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3FD2A-BB14-4E14-8D1B-66CF53AB4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Manipulation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471EEF-7240-4B91-92C4-41718FC22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the tool - Boolean algebra, we go back to the purpose of this topic, “information manipulation”.</a:t>
            </a:r>
          </a:p>
          <a:p>
            <a:r>
              <a:rPr lang="en-US" dirty="0"/>
              <a:t>To achieve this task, we follow these steps.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Specify how information is manipulated by enumerating the input-output relation (</a:t>
            </a:r>
            <a:r>
              <a:rPr lang="en-US" b="1" dirty="0">
                <a:solidFill>
                  <a:srgbClr val="C00000"/>
                </a:solidFill>
              </a:rPr>
              <a:t>construct a truth table</a:t>
            </a:r>
            <a:r>
              <a:rPr lang="en-US" dirty="0"/>
              <a:t>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Convert the truth table into a </a:t>
            </a:r>
            <a:r>
              <a:rPr lang="en-US" b="1" dirty="0">
                <a:solidFill>
                  <a:srgbClr val="C00000"/>
                </a:solidFill>
              </a:rPr>
              <a:t>Boolean function</a:t>
            </a:r>
            <a:r>
              <a:rPr lang="en-US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Minimize the </a:t>
            </a:r>
            <a:r>
              <a:rPr lang="en-US" b="1" dirty="0">
                <a:solidFill>
                  <a:srgbClr val="C00000"/>
                </a:solidFill>
              </a:rPr>
              <a:t>Boolean function</a:t>
            </a:r>
            <a:r>
              <a:rPr lang="en-US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Implement the Boolean function by </a:t>
            </a:r>
            <a:r>
              <a:rPr lang="en-US" b="1" dirty="0">
                <a:solidFill>
                  <a:srgbClr val="C00000"/>
                </a:solidFill>
              </a:rPr>
              <a:t>electronic devices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06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E9B36-D68F-45D3-8C11-598F22F24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1 - Specification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327A92-37E1-48AC-BAB9-B90839F48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specify how information is manipulated,</a:t>
            </a:r>
          </a:p>
          <a:p>
            <a:pPr lvl="1"/>
            <a:r>
              <a:rPr lang="en-US" dirty="0"/>
              <a:t>Find out how many variables are needed.</a:t>
            </a:r>
          </a:p>
          <a:p>
            <a:pPr lvl="1"/>
            <a:r>
              <a:rPr lang="en-US" dirty="0"/>
              <a:t>Enumerate all possible assignments of these variables.</a:t>
            </a:r>
          </a:p>
          <a:p>
            <a:pPr lvl="1"/>
            <a:r>
              <a:rPr lang="en-US" dirty="0"/>
              <a:t>For each possible assignment, write down the expected outcome, which is the value of the Boolean function on this assignment.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992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5FF5A-888E-4DF1-9B1D-78F7E8AC8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1 - Specification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F0A0D346-999C-4FD6-8629-CA3A4A833ED5}"/>
              </a:ext>
            </a:extLst>
          </p:cNvPr>
          <p:cNvSpPr/>
          <p:nvPr/>
        </p:nvSpPr>
        <p:spPr>
          <a:xfrm>
            <a:off x="1416000" y="1690688"/>
            <a:ext cx="9360000" cy="428549"/>
          </a:xfrm>
          <a:custGeom>
            <a:avLst/>
            <a:gdLst>
              <a:gd name="connsiteX0" fmla="*/ 76180 w 9360000"/>
              <a:gd name="connsiteY0" fmla="*/ 0 h 428549"/>
              <a:gd name="connsiteX1" fmla="*/ 9283820 w 9360000"/>
              <a:gd name="connsiteY1" fmla="*/ 0 h 428549"/>
              <a:gd name="connsiteX2" fmla="*/ 9360000 w 9360000"/>
              <a:gd name="connsiteY2" fmla="*/ 76180 h 428549"/>
              <a:gd name="connsiteX3" fmla="*/ 9360000 w 9360000"/>
              <a:gd name="connsiteY3" fmla="*/ 428549 h 428549"/>
              <a:gd name="connsiteX4" fmla="*/ 0 w 9360000"/>
              <a:gd name="connsiteY4" fmla="*/ 428549 h 428549"/>
              <a:gd name="connsiteX5" fmla="*/ 0 w 9360000"/>
              <a:gd name="connsiteY5" fmla="*/ 76180 h 428549"/>
              <a:gd name="connsiteX6" fmla="*/ 76180 w 9360000"/>
              <a:gd name="connsiteY6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60000" h="428549">
                <a:moveTo>
                  <a:pt x="76180" y="0"/>
                </a:moveTo>
                <a:lnTo>
                  <a:pt x="9283820" y="0"/>
                </a:lnTo>
                <a:cubicBezTo>
                  <a:pt x="9325893" y="0"/>
                  <a:pt x="9360000" y="34107"/>
                  <a:pt x="9360000" y="76180"/>
                </a:cubicBezTo>
                <a:lnTo>
                  <a:pt x="9360000" y="428549"/>
                </a:lnTo>
                <a:lnTo>
                  <a:pt x="0" y="428549"/>
                </a:lnTo>
                <a:lnTo>
                  <a:pt x="0" y="76180"/>
                </a:lnTo>
                <a:cubicBezTo>
                  <a:pt x="0" y="34107"/>
                  <a:pt x="34107" y="0"/>
                  <a:pt x="76180" y="0"/>
                </a:cubicBezTo>
                <a:close/>
              </a:path>
            </a:pathLst>
          </a:custGeom>
          <a:solidFill>
            <a:srgbClr val="4BACC6">
              <a:lumMod val="75000"/>
            </a:srgbClr>
          </a:solidFill>
          <a:ln w="25400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Example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CA6D86-D02C-4999-87BA-585BDB890F4D}"/>
              </a:ext>
            </a:extLst>
          </p:cNvPr>
          <p:cNvSpPr/>
          <p:nvPr/>
        </p:nvSpPr>
        <p:spPr>
          <a:xfrm>
            <a:off x="1415999" y="2119237"/>
            <a:ext cx="9359999" cy="1200329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>
            <a:outerShdw blurRad="50800" dist="38100" dir="5400000" sx="99000" sy="99000" algn="t" rotWithShape="0">
              <a:prstClr val="black">
                <a:alpha val="40000"/>
              </a:prstClr>
            </a:outerShdw>
          </a:effectLst>
        </p:spPr>
        <p:txBody>
          <a:bodyPr wrap="square" lIns="90000" rtlCol="0" anchor="t" anchorCtr="0">
            <a:spAutoFit/>
          </a:bodyPr>
          <a:lstStyle/>
          <a:p>
            <a:pPr marL="0" marR="0" lvl="0" indent="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student passes a course if the total score is above 40, but never receives below 20 in the final exam</a:t>
            </a:r>
            <a:r>
              <a:rPr lang="en-US" sz="2400" kern="0" dirty="0">
                <a:solidFill>
                  <a:prstClr val="black"/>
                </a:solidFill>
                <a:latin typeface="Calibri"/>
              </a:rPr>
              <a:t> or cheats in any assessment.</a:t>
            </a:r>
          </a:p>
          <a:p>
            <a:pPr marL="0" marR="0" lvl="0" indent="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Construct a truth table to enumerate all cases.</a:t>
            </a:r>
          </a:p>
        </p:txBody>
      </p:sp>
    </p:spTree>
    <p:extLst>
      <p:ext uri="{BB962C8B-B14F-4D97-AF65-F5344CB8AC3E}">
        <p14:creationId xmlns:p14="http://schemas.microsoft.com/office/powerpoint/2010/main" val="910055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5FF5A-888E-4DF1-9B1D-78F7E8AC8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1 - Specification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F0A0D346-999C-4FD6-8629-CA3A4A833ED5}"/>
              </a:ext>
            </a:extLst>
          </p:cNvPr>
          <p:cNvSpPr/>
          <p:nvPr/>
        </p:nvSpPr>
        <p:spPr>
          <a:xfrm>
            <a:off x="1416000" y="1690688"/>
            <a:ext cx="9360000" cy="428549"/>
          </a:xfrm>
          <a:custGeom>
            <a:avLst/>
            <a:gdLst>
              <a:gd name="connsiteX0" fmla="*/ 76180 w 9360000"/>
              <a:gd name="connsiteY0" fmla="*/ 0 h 428549"/>
              <a:gd name="connsiteX1" fmla="*/ 9283820 w 9360000"/>
              <a:gd name="connsiteY1" fmla="*/ 0 h 428549"/>
              <a:gd name="connsiteX2" fmla="*/ 9360000 w 9360000"/>
              <a:gd name="connsiteY2" fmla="*/ 76180 h 428549"/>
              <a:gd name="connsiteX3" fmla="*/ 9360000 w 9360000"/>
              <a:gd name="connsiteY3" fmla="*/ 428549 h 428549"/>
              <a:gd name="connsiteX4" fmla="*/ 0 w 9360000"/>
              <a:gd name="connsiteY4" fmla="*/ 428549 h 428549"/>
              <a:gd name="connsiteX5" fmla="*/ 0 w 9360000"/>
              <a:gd name="connsiteY5" fmla="*/ 76180 h 428549"/>
              <a:gd name="connsiteX6" fmla="*/ 76180 w 9360000"/>
              <a:gd name="connsiteY6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60000" h="428549">
                <a:moveTo>
                  <a:pt x="76180" y="0"/>
                </a:moveTo>
                <a:lnTo>
                  <a:pt x="9283820" y="0"/>
                </a:lnTo>
                <a:cubicBezTo>
                  <a:pt x="9325893" y="0"/>
                  <a:pt x="9360000" y="34107"/>
                  <a:pt x="9360000" y="76180"/>
                </a:cubicBezTo>
                <a:lnTo>
                  <a:pt x="9360000" y="428549"/>
                </a:lnTo>
                <a:lnTo>
                  <a:pt x="0" y="428549"/>
                </a:lnTo>
                <a:lnTo>
                  <a:pt x="0" y="76180"/>
                </a:lnTo>
                <a:cubicBezTo>
                  <a:pt x="0" y="34107"/>
                  <a:pt x="34107" y="0"/>
                  <a:pt x="76180" y="0"/>
                </a:cubicBezTo>
                <a:close/>
              </a:path>
            </a:pathLst>
          </a:custGeom>
          <a:solidFill>
            <a:srgbClr val="4BACC6">
              <a:lumMod val="75000"/>
            </a:srgbClr>
          </a:solidFill>
          <a:ln w="25400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Example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1CA6D86-D02C-4999-87BA-585BDB890F4D}"/>
                  </a:ext>
                </a:extLst>
              </p:cNvPr>
              <p:cNvSpPr/>
              <p:nvPr/>
            </p:nvSpPr>
            <p:spPr>
              <a:xfrm>
                <a:off x="1415999" y="2119237"/>
                <a:ext cx="9359999" cy="3785652"/>
              </a:xfrm>
              <a:prstGeom prst="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 student passes a course if the 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total score is above 40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and receives 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at least 20 in the final exam</a:t>
                </a: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, but </a:t>
                </a:r>
                <a:r>
                  <a:rPr lang="en-US" sz="2400" kern="0" dirty="0">
                    <a:solidFill>
                      <a:schemeClr val="accent6">
                        <a:lumMod val="75000"/>
                      </a:schemeClr>
                    </a:solidFill>
                    <a:latin typeface="Calibri"/>
                  </a:rPr>
                  <a:t>has no instance of academic dishonesty</a:t>
                </a: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.</a:t>
                </a: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Construct a truth table to enumerate all cases.</a:t>
                </a: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Ans.</a:t>
                </a:r>
              </a:p>
              <a:p>
                <a:pPr marL="342900" marR="0" lvl="0" indent="-34290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Three variables (inputs):</a:t>
                </a:r>
              </a:p>
              <a:p>
                <a:pPr marL="800100" lvl="1" indent="-342900" defTabSz="360363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- total score</a:t>
                </a:r>
                <a:r>
                  <a:rPr kumimoji="0" lang="en-US" sz="2400" b="0" i="0" u="none" strike="noStrike" kern="0" cap="none" spc="0" normalizeH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is above 40</a:t>
                </a:r>
                <a:r>
                  <a:rPr kumimoji="0" lang="en-US" sz="2400" b="0" i="0" u="none" strike="noStrike" kern="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</a:t>
                </a:r>
              </a:p>
              <a:p>
                <a:pPr marL="800100" lvl="1" indent="-342900" defTabSz="360363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- final exam is above 20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and</a:t>
                </a:r>
              </a:p>
              <a:p>
                <a:pPr marL="800100" lvl="1" indent="-342900" defTabSz="360363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- has</a:t>
                </a:r>
                <a:r>
                  <a:rPr kumimoji="0" lang="en-US" sz="2400" b="0" i="0" u="none" strike="noStrike" kern="0" cap="none" spc="0" normalizeH="0" noProof="0" dirty="0">
                    <a:ln>
                      <a:noFill/>
                    </a:ln>
                    <a:solidFill>
                      <a:schemeClr val="accent6">
                        <a:lumMod val="75000"/>
                      </a:schemeClr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lang="en-US" sz="2400" kern="0" dirty="0">
                    <a:solidFill>
                      <a:schemeClr val="accent6">
                        <a:lumMod val="75000"/>
                      </a:schemeClr>
                    </a:solidFill>
                    <a:latin typeface="Calibri"/>
                  </a:rPr>
                  <a:t>an instance of academic dishonesty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.</a:t>
                </a:r>
              </a:p>
              <a:p>
                <a:pPr marL="342900" marR="0" lvl="0" indent="-34290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One output:</a:t>
                </a:r>
              </a:p>
              <a:p>
                <a:pPr marL="800100" lvl="1" indent="-342900" defTabSz="360363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- the</a:t>
                </a:r>
                <a:r>
                  <a:rPr kumimoji="0" lang="en-US" sz="2400" b="0" i="0" u="none" strike="noStrike" kern="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student passes the course.</a:t>
                </a: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1CA6D86-D02C-4999-87BA-585BDB890F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99" y="2119237"/>
                <a:ext cx="9359999" cy="3785652"/>
              </a:xfrm>
              <a:prstGeom prst="rect">
                <a:avLst/>
              </a:prstGeom>
              <a:blipFill>
                <a:blip r:embed="rId2"/>
                <a:stretch>
                  <a:fillRect l="-778" t="-471" b="-942"/>
                </a:stretch>
              </a:blip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4806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5FF5A-888E-4DF1-9B1D-78F7E8AC8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1 - Specification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F0A0D346-999C-4FD6-8629-CA3A4A833ED5}"/>
              </a:ext>
            </a:extLst>
          </p:cNvPr>
          <p:cNvSpPr/>
          <p:nvPr/>
        </p:nvSpPr>
        <p:spPr>
          <a:xfrm>
            <a:off x="1416000" y="1690688"/>
            <a:ext cx="9360000" cy="428549"/>
          </a:xfrm>
          <a:custGeom>
            <a:avLst/>
            <a:gdLst>
              <a:gd name="connsiteX0" fmla="*/ 76180 w 9360000"/>
              <a:gd name="connsiteY0" fmla="*/ 0 h 428549"/>
              <a:gd name="connsiteX1" fmla="*/ 9283820 w 9360000"/>
              <a:gd name="connsiteY1" fmla="*/ 0 h 428549"/>
              <a:gd name="connsiteX2" fmla="*/ 9360000 w 9360000"/>
              <a:gd name="connsiteY2" fmla="*/ 76180 h 428549"/>
              <a:gd name="connsiteX3" fmla="*/ 9360000 w 9360000"/>
              <a:gd name="connsiteY3" fmla="*/ 428549 h 428549"/>
              <a:gd name="connsiteX4" fmla="*/ 0 w 9360000"/>
              <a:gd name="connsiteY4" fmla="*/ 428549 h 428549"/>
              <a:gd name="connsiteX5" fmla="*/ 0 w 9360000"/>
              <a:gd name="connsiteY5" fmla="*/ 76180 h 428549"/>
              <a:gd name="connsiteX6" fmla="*/ 76180 w 9360000"/>
              <a:gd name="connsiteY6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60000" h="428549">
                <a:moveTo>
                  <a:pt x="76180" y="0"/>
                </a:moveTo>
                <a:lnTo>
                  <a:pt x="9283820" y="0"/>
                </a:lnTo>
                <a:cubicBezTo>
                  <a:pt x="9325893" y="0"/>
                  <a:pt x="9360000" y="34107"/>
                  <a:pt x="9360000" y="76180"/>
                </a:cubicBezTo>
                <a:lnTo>
                  <a:pt x="9360000" y="428549"/>
                </a:lnTo>
                <a:lnTo>
                  <a:pt x="0" y="428549"/>
                </a:lnTo>
                <a:lnTo>
                  <a:pt x="0" y="76180"/>
                </a:lnTo>
                <a:cubicBezTo>
                  <a:pt x="0" y="34107"/>
                  <a:pt x="34107" y="0"/>
                  <a:pt x="76180" y="0"/>
                </a:cubicBezTo>
                <a:close/>
              </a:path>
            </a:pathLst>
          </a:custGeom>
          <a:solidFill>
            <a:srgbClr val="4BACC6">
              <a:lumMod val="75000"/>
            </a:srgbClr>
          </a:solidFill>
          <a:ln w="25400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Example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CA6D86-D02C-4999-87BA-585BDB890F4D}"/>
              </a:ext>
            </a:extLst>
          </p:cNvPr>
          <p:cNvSpPr/>
          <p:nvPr/>
        </p:nvSpPr>
        <p:spPr>
          <a:xfrm>
            <a:off x="1415999" y="2119237"/>
            <a:ext cx="9359999" cy="4524315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>
            <a:outerShdw blurRad="50800" dist="38100" dir="5400000" sx="99000" sy="99000" algn="t" rotWithShape="0">
              <a:prstClr val="black">
                <a:alpha val="40000"/>
              </a:prstClr>
            </a:outerShdw>
          </a:effectLst>
        </p:spPr>
        <p:txBody>
          <a:bodyPr wrap="square" lIns="90000" rtlCol="0" anchor="t" anchorCtr="0">
            <a:spAutoFit/>
          </a:bodyPr>
          <a:lstStyle/>
          <a:p>
            <a:pPr marL="0" marR="0" lvl="0" indent="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student passes a course if the total score is above than 40, but never receives below 20 in the final exam</a:t>
            </a:r>
            <a:r>
              <a:rPr lang="en-US" sz="2400" kern="0" dirty="0">
                <a:solidFill>
                  <a:prstClr val="black"/>
                </a:solidFill>
                <a:latin typeface="Calibri"/>
              </a:rPr>
              <a:t> or cheats in any assessment.</a:t>
            </a:r>
          </a:p>
          <a:p>
            <a:pPr marL="0" marR="0" lvl="0" indent="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Construct a truth table to enumerate all cases.</a:t>
            </a:r>
          </a:p>
          <a:p>
            <a:pPr marL="0" marR="0" lvl="0" indent="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Calibri"/>
              </a:rPr>
              <a:t>Ans.</a:t>
            </a:r>
          </a:p>
          <a:p>
            <a:pPr marL="342900" marR="0" lvl="0" indent="-34290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kern="0" dirty="0">
              <a:solidFill>
                <a:prstClr val="black"/>
              </a:solidFill>
              <a:latin typeface="Calibri"/>
            </a:endParaRPr>
          </a:p>
          <a:p>
            <a:pPr marL="342900" marR="0" lvl="0" indent="-34290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kern="0" dirty="0">
              <a:solidFill>
                <a:prstClr val="black"/>
              </a:solidFill>
              <a:latin typeface="Calibri"/>
            </a:endParaRPr>
          </a:p>
          <a:p>
            <a:pPr marL="342900" marR="0" lvl="0" indent="-34290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kern="0" dirty="0">
              <a:solidFill>
                <a:prstClr val="black"/>
              </a:solidFill>
              <a:latin typeface="Calibri"/>
            </a:endParaRPr>
          </a:p>
          <a:p>
            <a:pPr marL="342900" marR="0" lvl="0" indent="-34290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B63CEC6-F916-491B-866D-7F1552B329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4454663"/>
                  </p:ext>
                </p:extLst>
              </p:nvPr>
            </p:nvGraphicFramePr>
            <p:xfrm>
              <a:off x="4842461" y="3349943"/>
              <a:ext cx="2507074" cy="3017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3327">
                      <a:extLst>
                        <a:ext uri="{9D8B030D-6E8A-4147-A177-3AD203B41FA5}">
                          <a16:colId xmlns:a16="http://schemas.microsoft.com/office/drawing/2014/main" val="628537415"/>
                        </a:ext>
                      </a:extLst>
                    </a:gridCol>
                    <a:gridCol w="504650">
                      <a:extLst>
                        <a:ext uri="{9D8B030D-6E8A-4147-A177-3AD203B41FA5}">
                          <a16:colId xmlns:a16="http://schemas.microsoft.com/office/drawing/2014/main" val="3920429839"/>
                        </a:ext>
                      </a:extLst>
                    </a:gridCol>
                    <a:gridCol w="491382">
                      <a:extLst>
                        <a:ext uri="{9D8B030D-6E8A-4147-A177-3AD203B41FA5}">
                          <a16:colId xmlns:a16="http://schemas.microsoft.com/office/drawing/2014/main" val="3357292230"/>
                        </a:ext>
                      </a:extLst>
                    </a:gridCol>
                    <a:gridCol w="1017715">
                      <a:extLst>
                        <a:ext uri="{9D8B030D-6E8A-4147-A177-3AD203B41FA5}">
                          <a16:colId xmlns:a16="http://schemas.microsoft.com/office/drawing/2014/main" val="3703455105"/>
                        </a:ext>
                      </a:extLst>
                    </a:gridCol>
                  </a:tblGrid>
                  <a:tr h="2204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6027888"/>
                      </a:ext>
                    </a:extLst>
                  </a:tr>
                  <a:tr h="2204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1255411"/>
                      </a:ext>
                    </a:extLst>
                  </a:tr>
                  <a:tr h="220451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232678"/>
                      </a:ext>
                    </a:extLst>
                  </a:tr>
                  <a:tr h="2204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8345315"/>
                      </a:ext>
                    </a:extLst>
                  </a:tr>
                  <a:tr h="2204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8942085"/>
                      </a:ext>
                    </a:extLst>
                  </a:tr>
                  <a:tr h="2204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0455987"/>
                      </a:ext>
                    </a:extLst>
                  </a:tr>
                  <a:tr h="2204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6711079"/>
                      </a:ext>
                    </a:extLst>
                  </a:tr>
                  <a:tr h="2204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1918634"/>
                      </a:ext>
                    </a:extLst>
                  </a:tr>
                  <a:tr h="2204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13585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DB63CEC6-F916-491B-866D-7F1552B329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4454663"/>
                  </p:ext>
                </p:extLst>
              </p:nvPr>
            </p:nvGraphicFramePr>
            <p:xfrm>
              <a:off x="4842461" y="3349943"/>
              <a:ext cx="2507074" cy="3017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3327">
                      <a:extLst>
                        <a:ext uri="{9D8B030D-6E8A-4147-A177-3AD203B41FA5}">
                          <a16:colId xmlns:a16="http://schemas.microsoft.com/office/drawing/2014/main" val="628537415"/>
                        </a:ext>
                      </a:extLst>
                    </a:gridCol>
                    <a:gridCol w="504650">
                      <a:extLst>
                        <a:ext uri="{9D8B030D-6E8A-4147-A177-3AD203B41FA5}">
                          <a16:colId xmlns:a16="http://schemas.microsoft.com/office/drawing/2014/main" val="3920429839"/>
                        </a:ext>
                      </a:extLst>
                    </a:gridCol>
                    <a:gridCol w="491382">
                      <a:extLst>
                        <a:ext uri="{9D8B030D-6E8A-4147-A177-3AD203B41FA5}">
                          <a16:colId xmlns:a16="http://schemas.microsoft.com/office/drawing/2014/main" val="3357292230"/>
                        </a:ext>
                      </a:extLst>
                    </a:gridCol>
                    <a:gridCol w="1017715">
                      <a:extLst>
                        <a:ext uri="{9D8B030D-6E8A-4147-A177-3AD203B41FA5}">
                          <a16:colId xmlns:a16="http://schemas.microsoft.com/office/drawing/2014/main" val="3703455105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1818" r="-413580" b="-8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8795" t="-1818" r="-303614" b="-8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704" t="-1818" r="-211111" b="-8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7305" t="-1818" r="-2395" b="-8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602788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101818" r="-413580" b="-7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8795" t="-101818" r="-303614" b="-7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704" t="-101818" r="-211111" b="-7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7305" t="-101818" r="-2395" b="-7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125541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201818" r="-413580" b="-6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8795" t="-201818" r="-303614" b="-6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704" t="-201818" r="-211111" b="-6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7305" t="-201818" r="-2395" b="-6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23267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301818" r="-413580" b="-5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8795" t="-301818" r="-303614" b="-5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704" t="-301818" r="-211111" b="-5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7305" t="-301818" r="-2395" b="-5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834531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394643" r="-413580" b="-396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8795" t="-394643" r="-303614" b="-396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704" t="-394643" r="-211111" b="-396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7305" t="-394643" r="-2395" b="-396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894208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503636" r="-413580" b="-3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8795" t="-503636" r="-303614" b="-3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704" t="-503636" r="-211111" b="-3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7305" t="-503636" r="-2395" b="-3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045598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603636" r="-413580" b="-2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8795" t="-603636" r="-303614" b="-2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704" t="-603636" r="-211111" b="-2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7305" t="-603636" r="-2395" b="-2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71107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703636" r="-41358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8795" t="-703636" r="-303614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704" t="-703636" r="-211111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7305" t="-703636" r="-2395" b="-1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191863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35" t="-803636" r="-41358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8795" t="-803636" r="-303614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3704" t="-803636" r="-211111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7305" t="-803636" r="-2395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13585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58403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983BE-1BC8-4778-9217-09325F36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2 - To Boolean Function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A725AD-88D7-47DA-A28D-1B9822659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convert the truth table to a Boolean function, we use </a:t>
            </a:r>
            <a:r>
              <a:rPr lang="en-US" b="1" dirty="0">
                <a:solidFill>
                  <a:srgbClr val="C00000"/>
                </a:solidFill>
              </a:rPr>
              <a:t>Conjunctive Normal Form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>
                <a:solidFill>
                  <a:srgbClr val="C00000"/>
                </a:solidFill>
              </a:rPr>
              <a:t>CNF</a:t>
            </a:r>
            <a:r>
              <a:rPr lang="en-US" dirty="0"/>
              <a:t>) or </a:t>
            </a:r>
            <a:r>
              <a:rPr lang="en-US" b="1" dirty="0">
                <a:solidFill>
                  <a:srgbClr val="C00000"/>
                </a:solidFill>
              </a:rPr>
              <a:t>Disjunctive Normal Form</a:t>
            </a:r>
            <a:r>
              <a:rPr lang="en-US" dirty="0"/>
              <a:t> (</a:t>
            </a:r>
            <a:r>
              <a:rPr lang="en-US" b="1" dirty="0">
                <a:solidFill>
                  <a:srgbClr val="C00000"/>
                </a:solidFill>
              </a:rPr>
              <a:t>DNF</a:t>
            </a:r>
            <a:r>
              <a:rPr lang="en-US" dirty="0"/>
              <a:t>).</a:t>
            </a:r>
          </a:p>
          <a:p>
            <a:r>
              <a:rPr lang="en-US" dirty="0"/>
              <a:t>“Normal form” - unify the shape of expressions.</a:t>
            </a:r>
          </a:p>
          <a:p>
            <a:r>
              <a:rPr lang="en-US" dirty="0"/>
              <a:t>In general,</a:t>
            </a:r>
          </a:p>
          <a:p>
            <a:pPr lvl="1"/>
            <a:r>
              <a:rPr lang="en-US" dirty="0"/>
              <a:t>CNF - product of sum</a:t>
            </a:r>
          </a:p>
          <a:p>
            <a:pPr lvl="1"/>
            <a:r>
              <a:rPr lang="en-US" dirty="0"/>
              <a:t>DNF - sum of products</a:t>
            </a:r>
          </a:p>
        </p:txBody>
      </p:sp>
    </p:spTree>
    <p:extLst>
      <p:ext uri="{BB962C8B-B14F-4D97-AF65-F5344CB8AC3E}">
        <p14:creationId xmlns:p14="http://schemas.microsoft.com/office/powerpoint/2010/main" val="116446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983BE-1BC8-4778-9217-09325F36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2 - To Boolean Function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A725AD-88D7-47DA-A28D-1B9822659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FD2FD137-361D-4F07-91F7-AA3C0EE1C9A9}"/>
              </a:ext>
            </a:extLst>
          </p:cNvPr>
          <p:cNvSpPr/>
          <p:nvPr/>
        </p:nvSpPr>
        <p:spPr>
          <a:xfrm>
            <a:off x="1416000" y="1825625"/>
            <a:ext cx="9359996" cy="428549"/>
          </a:xfrm>
          <a:custGeom>
            <a:avLst/>
            <a:gdLst>
              <a:gd name="connsiteX0" fmla="*/ 76176 w 9359996"/>
              <a:gd name="connsiteY0" fmla="*/ 0 h 428549"/>
              <a:gd name="connsiteX1" fmla="*/ 9283816 w 9359996"/>
              <a:gd name="connsiteY1" fmla="*/ 0 h 428549"/>
              <a:gd name="connsiteX2" fmla="*/ 9359996 w 9359996"/>
              <a:gd name="connsiteY2" fmla="*/ 76180 h 428549"/>
              <a:gd name="connsiteX3" fmla="*/ 9359996 w 9359996"/>
              <a:gd name="connsiteY3" fmla="*/ 428549 h 428549"/>
              <a:gd name="connsiteX4" fmla="*/ 0 w 9359996"/>
              <a:gd name="connsiteY4" fmla="*/ 428549 h 428549"/>
              <a:gd name="connsiteX5" fmla="*/ 0 w 9359996"/>
              <a:gd name="connsiteY5" fmla="*/ 76161 h 428549"/>
              <a:gd name="connsiteX6" fmla="*/ 5983 w 9359996"/>
              <a:gd name="connsiteY6" fmla="*/ 46527 h 428549"/>
              <a:gd name="connsiteX7" fmla="*/ 76176 w 9359996"/>
              <a:gd name="connsiteY7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59996" h="428549">
                <a:moveTo>
                  <a:pt x="76176" y="0"/>
                </a:moveTo>
                <a:lnTo>
                  <a:pt x="9283816" y="0"/>
                </a:lnTo>
                <a:cubicBezTo>
                  <a:pt x="9325889" y="0"/>
                  <a:pt x="9359996" y="34107"/>
                  <a:pt x="9359996" y="76180"/>
                </a:cubicBezTo>
                <a:lnTo>
                  <a:pt x="9359996" y="428549"/>
                </a:lnTo>
                <a:lnTo>
                  <a:pt x="0" y="428549"/>
                </a:lnTo>
                <a:lnTo>
                  <a:pt x="0" y="76161"/>
                </a:lnTo>
                <a:lnTo>
                  <a:pt x="5983" y="46527"/>
                </a:lnTo>
                <a:cubicBezTo>
                  <a:pt x="17548" y="19185"/>
                  <a:pt x="44621" y="0"/>
                  <a:pt x="76176" y="0"/>
                </a:cubicBezTo>
                <a:close/>
              </a:path>
            </a:pathLst>
          </a:custGeom>
          <a:solidFill>
            <a:srgbClr val="C0504D">
              <a:lumMod val="75000"/>
            </a:srgbClr>
          </a:solidFill>
          <a:ln w="25400" cap="flat" cmpd="sng" algn="ctr">
            <a:solidFill>
              <a:srgbClr val="C0504D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B02D97F-A593-48CE-ADC4-565D8E3664C9}"/>
                  </a:ext>
                </a:extLst>
              </p:cNvPr>
              <p:cNvSpPr/>
              <p:nvPr/>
            </p:nvSpPr>
            <p:spPr>
              <a:xfrm>
                <a:off x="1416000" y="2254174"/>
                <a:ext cx="9360000" cy="1569917"/>
              </a:xfrm>
              <a:prstGeom prst="rect">
                <a:avLst/>
              </a:prstGeom>
              <a:solidFill>
                <a:srgbClr val="C0504D">
                  <a:lumMod val="20000"/>
                  <a:lumOff val="80000"/>
                </a:srgbClr>
              </a:solidFill>
              <a:ln w="25400" cap="flat" cmpd="sng" algn="ctr">
                <a:solidFill>
                  <a:srgbClr val="C0504D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be a Boolean variable.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/>
                  <a:t> are two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literals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Boolean variables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dirty="0"/>
                  <a:t> be the literal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Then,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⋅…⋅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dirty="0"/>
                  <a:t> is a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min-term</a:t>
                </a:r>
                <a:r>
                  <a:rPr lang="en-US" sz="2400" dirty="0"/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dirty="0"/>
                  <a:t> is a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max-term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B02D97F-A593-48CE-ADC4-565D8E3664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00" y="2254174"/>
                <a:ext cx="9360000" cy="1569917"/>
              </a:xfrm>
              <a:prstGeom prst="rect">
                <a:avLst/>
              </a:prstGeom>
              <a:blipFill>
                <a:blip r:embed="rId2"/>
                <a:stretch>
                  <a:fillRect l="-778" t="-725" b="-2899"/>
                </a:stretch>
              </a:blipFill>
              <a:ln w="25400" cap="flat" cmpd="sng" algn="ctr">
                <a:solidFill>
                  <a:srgbClr val="C0504D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3312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0F61A1-E4DC-4376-BBE6-A520217E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2 - To Boolean Function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570B0B-A1F6-4CD2-A57D-2DC3396AD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7C32D78E-4436-4E31-9259-3E35E8239C98}"/>
              </a:ext>
            </a:extLst>
          </p:cNvPr>
          <p:cNvSpPr/>
          <p:nvPr/>
        </p:nvSpPr>
        <p:spPr>
          <a:xfrm>
            <a:off x="1415996" y="1825625"/>
            <a:ext cx="9359996" cy="428549"/>
          </a:xfrm>
          <a:custGeom>
            <a:avLst/>
            <a:gdLst>
              <a:gd name="connsiteX0" fmla="*/ 76176 w 9359996"/>
              <a:gd name="connsiteY0" fmla="*/ 0 h 428549"/>
              <a:gd name="connsiteX1" fmla="*/ 9283816 w 9359996"/>
              <a:gd name="connsiteY1" fmla="*/ 0 h 428549"/>
              <a:gd name="connsiteX2" fmla="*/ 9359996 w 9359996"/>
              <a:gd name="connsiteY2" fmla="*/ 76180 h 428549"/>
              <a:gd name="connsiteX3" fmla="*/ 9359996 w 9359996"/>
              <a:gd name="connsiteY3" fmla="*/ 428549 h 428549"/>
              <a:gd name="connsiteX4" fmla="*/ 0 w 9359996"/>
              <a:gd name="connsiteY4" fmla="*/ 428549 h 428549"/>
              <a:gd name="connsiteX5" fmla="*/ 0 w 9359996"/>
              <a:gd name="connsiteY5" fmla="*/ 76161 h 428549"/>
              <a:gd name="connsiteX6" fmla="*/ 5983 w 9359996"/>
              <a:gd name="connsiteY6" fmla="*/ 46527 h 428549"/>
              <a:gd name="connsiteX7" fmla="*/ 76176 w 9359996"/>
              <a:gd name="connsiteY7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59996" h="428549">
                <a:moveTo>
                  <a:pt x="76176" y="0"/>
                </a:moveTo>
                <a:lnTo>
                  <a:pt x="9283816" y="0"/>
                </a:lnTo>
                <a:cubicBezTo>
                  <a:pt x="9325889" y="0"/>
                  <a:pt x="9359996" y="34107"/>
                  <a:pt x="9359996" y="76180"/>
                </a:cubicBezTo>
                <a:lnTo>
                  <a:pt x="9359996" y="428549"/>
                </a:lnTo>
                <a:lnTo>
                  <a:pt x="0" y="428549"/>
                </a:lnTo>
                <a:lnTo>
                  <a:pt x="0" y="76161"/>
                </a:lnTo>
                <a:lnTo>
                  <a:pt x="5983" y="46527"/>
                </a:lnTo>
                <a:cubicBezTo>
                  <a:pt x="17548" y="19185"/>
                  <a:pt x="44621" y="0"/>
                  <a:pt x="76176" y="0"/>
                </a:cubicBezTo>
                <a:close/>
              </a:path>
            </a:pathLst>
          </a:custGeom>
          <a:solidFill>
            <a:srgbClr val="C0504D">
              <a:lumMod val="75000"/>
            </a:srgbClr>
          </a:solidFill>
          <a:ln w="25400" cap="flat" cmpd="sng" algn="ctr">
            <a:solidFill>
              <a:srgbClr val="C0504D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E39123D-2563-46DF-B447-451445EB1F06}"/>
                  </a:ext>
                </a:extLst>
              </p:cNvPr>
              <p:cNvSpPr/>
              <p:nvPr/>
            </p:nvSpPr>
            <p:spPr>
              <a:xfrm>
                <a:off x="1415996" y="2254174"/>
                <a:ext cx="9360000" cy="1569660"/>
              </a:xfrm>
              <a:prstGeom prst="rect">
                <a:avLst/>
              </a:prstGeom>
              <a:solidFill>
                <a:srgbClr val="C0504D">
                  <a:lumMod val="20000"/>
                  <a:lumOff val="80000"/>
                </a:srgbClr>
              </a:solidFill>
              <a:ln w="25400" cap="flat" cmpd="sng" algn="ctr">
                <a:solidFill>
                  <a:srgbClr val="C0504D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be a Boolean function 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  <a:r>
                  <a:rPr lang="en-US" altLang="zh-CN" sz="2400" dirty="0"/>
                  <a:t>The </a:t>
                </a:r>
                <a:r>
                  <a:rPr lang="en-US" altLang="zh-CN" sz="2400" b="1" dirty="0">
                    <a:solidFill>
                      <a:srgbClr val="0070C0"/>
                    </a:solidFill>
                  </a:rPr>
                  <a:t>CNF</a:t>
                </a:r>
                <a:r>
                  <a:rPr lang="en-US" altLang="zh-CN" sz="2400" dirty="0"/>
                  <a:t> of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a Boolean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such that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is identical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, and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0" dirty="0"/>
                  <a:t>the expression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is the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product of max-terms </a:t>
                </a:r>
                <a:r>
                  <a:rPr lang="en-US" sz="2400" dirty="0"/>
                  <a:t>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E39123D-2563-46DF-B447-451445EB1F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96" y="2254174"/>
                <a:ext cx="9360000" cy="1569660"/>
              </a:xfrm>
              <a:prstGeom prst="rect">
                <a:avLst/>
              </a:prstGeom>
              <a:blipFill>
                <a:blip r:embed="rId2"/>
                <a:stretch>
                  <a:fillRect l="-778" t="-725" b="-2899"/>
                </a:stretch>
              </a:blipFill>
              <a:ln w="25400" cap="flat" cmpd="sng" algn="ctr">
                <a:solidFill>
                  <a:srgbClr val="C0504D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B10128FB-46B3-4B44-920D-2EF65423389F}"/>
              </a:ext>
            </a:extLst>
          </p:cNvPr>
          <p:cNvSpPr/>
          <p:nvPr/>
        </p:nvSpPr>
        <p:spPr>
          <a:xfrm>
            <a:off x="1415992" y="4178754"/>
            <a:ext cx="9359996" cy="428549"/>
          </a:xfrm>
          <a:custGeom>
            <a:avLst/>
            <a:gdLst>
              <a:gd name="connsiteX0" fmla="*/ 76176 w 9359996"/>
              <a:gd name="connsiteY0" fmla="*/ 0 h 428549"/>
              <a:gd name="connsiteX1" fmla="*/ 9283816 w 9359996"/>
              <a:gd name="connsiteY1" fmla="*/ 0 h 428549"/>
              <a:gd name="connsiteX2" fmla="*/ 9359996 w 9359996"/>
              <a:gd name="connsiteY2" fmla="*/ 76180 h 428549"/>
              <a:gd name="connsiteX3" fmla="*/ 9359996 w 9359996"/>
              <a:gd name="connsiteY3" fmla="*/ 428549 h 428549"/>
              <a:gd name="connsiteX4" fmla="*/ 0 w 9359996"/>
              <a:gd name="connsiteY4" fmla="*/ 428549 h 428549"/>
              <a:gd name="connsiteX5" fmla="*/ 0 w 9359996"/>
              <a:gd name="connsiteY5" fmla="*/ 76161 h 428549"/>
              <a:gd name="connsiteX6" fmla="*/ 5983 w 9359996"/>
              <a:gd name="connsiteY6" fmla="*/ 46527 h 428549"/>
              <a:gd name="connsiteX7" fmla="*/ 76176 w 9359996"/>
              <a:gd name="connsiteY7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59996" h="428549">
                <a:moveTo>
                  <a:pt x="76176" y="0"/>
                </a:moveTo>
                <a:lnTo>
                  <a:pt x="9283816" y="0"/>
                </a:lnTo>
                <a:cubicBezTo>
                  <a:pt x="9325889" y="0"/>
                  <a:pt x="9359996" y="34107"/>
                  <a:pt x="9359996" y="76180"/>
                </a:cubicBezTo>
                <a:lnTo>
                  <a:pt x="9359996" y="428549"/>
                </a:lnTo>
                <a:lnTo>
                  <a:pt x="0" y="428549"/>
                </a:lnTo>
                <a:lnTo>
                  <a:pt x="0" y="76161"/>
                </a:lnTo>
                <a:lnTo>
                  <a:pt x="5983" y="46527"/>
                </a:lnTo>
                <a:cubicBezTo>
                  <a:pt x="17548" y="19185"/>
                  <a:pt x="44621" y="0"/>
                  <a:pt x="76176" y="0"/>
                </a:cubicBezTo>
                <a:close/>
              </a:path>
            </a:pathLst>
          </a:custGeom>
          <a:solidFill>
            <a:srgbClr val="C0504D">
              <a:lumMod val="75000"/>
            </a:srgbClr>
          </a:solidFill>
          <a:ln w="25400" cap="flat" cmpd="sng" algn="ctr">
            <a:solidFill>
              <a:srgbClr val="C0504D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91C0481-6FDB-45E3-92B2-C3CA22E308F0}"/>
                  </a:ext>
                </a:extLst>
              </p:cNvPr>
              <p:cNvSpPr/>
              <p:nvPr/>
            </p:nvSpPr>
            <p:spPr>
              <a:xfrm>
                <a:off x="1415992" y="4607303"/>
                <a:ext cx="9360000" cy="1569660"/>
              </a:xfrm>
              <a:prstGeom prst="rect">
                <a:avLst/>
              </a:prstGeom>
              <a:solidFill>
                <a:srgbClr val="C0504D">
                  <a:lumMod val="20000"/>
                  <a:lumOff val="80000"/>
                </a:srgbClr>
              </a:solidFill>
              <a:ln w="25400" cap="flat" cmpd="sng" algn="ctr">
                <a:solidFill>
                  <a:srgbClr val="C0504D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be a Boolean function 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  <a:r>
                  <a:rPr lang="en-US" altLang="zh-CN" sz="2400" dirty="0"/>
                  <a:t>The </a:t>
                </a:r>
                <a:r>
                  <a:rPr lang="en-US" altLang="zh-CN" sz="2400" b="1" dirty="0">
                    <a:solidFill>
                      <a:srgbClr val="0070C0"/>
                    </a:solidFill>
                  </a:rPr>
                  <a:t>DNF</a:t>
                </a:r>
                <a:r>
                  <a:rPr lang="en-US" altLang="zh-CN" sz="2400" dirty="0"/>
                  <a:t> of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a Boolean 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such that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is identical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, and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0" dirty="0"/>
                  <a:t>the expression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is the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sum of min-terms </a:t>
                </a:r>
                <a:r>
                  <a:rPr lang="en-US" sz="2400" dirty="0"/>
                  <a:t>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91C0481-6FDB-45E3-92B2-C3CA22E308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92" y="4607303"/>
                <a:ext cx="9360000" cy="1569660"/>
              </a:xfrm>
              <a:prstGeom prst="rect">
                <a:avLst/>
              </a:prstGeom>
              <a:blipFill>
                <a:blip r:embed="rId3"/>
                <a:stretch>
                  <a:fillRect l="-778" t="-725" b="-2899"/>
                </a:stretch>
              </a:blipFill>
              <a:ln w="25400" cap="flat" cmpd="sng" algn="ctr">
                <a:solidFill>
                  <a:srgbClr val="C0504D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29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0F61A1-E4DC-4376-BBE6-A520217E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2 - To Boolean Function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200ADA1C-96EA-4A1E-A935-C4266623F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CA09813E-879A-4929-95C5-D7355734D93B}"/>
              </a:ext>
            </a:extLst>
          </p:cNvPr>
          <p:cNvSpPr/>
          <p:nvPr/>
        </p:nvSpPr>
        <p:spPr>
          <a:xfrm>
            <a:off x="1416000" y="1690688"/>
            <a:ext cx="9360000" cy="428549"/>
          </a:xfrm>
          <a:custGeom>
            <a:avLst/>
            <a:gdLst>
              <a:gd name="connsiteX0" fmla="*/ 76180 w 9360000"/>
              <a:gd name="connsiteY0" fmla="*/ 0 h 428549"/>
              <a:gd name="connsiteX1" fmla="*/ 9283820 w 9360000"/>
              <a:gd name="connsiteY1" fmla="*/ 0 h 428549"/>
              <a:gd name="connsiteX2" fmla="*/ 9360000 w 9360000"/>
              <a:gd name="connsiteY2" fmla="*/ 76180 h 428549"/>
              <a:gd name="connsiteX3" fmla="*/ 9360000 w 9360000"/>
              <a:gd name="connsiteY3" fmla="*/ 428549 h 428549"/>
              <a:gd name="connsiteX4" fmla="*/ 0 w 9360000"/>
              <a:gd name="connsiteY4" fmla="*/ 428549 h 428549"/>
              <a:gd name="connsiteX5" fmla="*/ 0 w 9360000"/>
              <a:gd name="connsiteY5" fmla="*/ 76180 h 428549"/>
              <a:gd name="connsiteX6" fmla="*/ 76180 w 9360000"/>
              <a:gd name="connsiteY6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60000" h="428549">
                <a:moveTo>
                  <a:pt x="76180" y="0"/>
                </a:moveTo>
                <a:lnTo>
                  <a:pt x="9283820" y="0"/>
                </a:lnTo>
                <a:cubicBezTo>
                  <a:pt x="9325893" y="0"/>
                  <a:pt x="9360000" y="34107"/>
                  <a:pt x="9360000" y="76180"/>
                </a:cubicBezTo>
                <a:lnTo>
                  <a:pt x="9360000" y="428549"/>
                </a:lnTo>
                <a:lnTo>
                  <a:pt x="0" y="428549"/>
                </a:lnTo>
                <a:lnTo>
                  <a:pt x="0" y="76180"/>
                </a:lnTo>
                <a:cubicBezTo>
                  <a:pt x="0" y="34107"/>
                  <a:pt x="34107" y="0"/>
                  <a:pt x="76180" y="0"/>
                </a:cubicBezTo>
                <a:close/>
              </a:path>
            </a:pathLst>
          </a:custGeom>
          <a:solidFill>
            <a:srgbClr val="4BACC6">
              <a:lumMod val="75000"/>
            </a:srgbClr>
          </a:solidFill>
          <a:ln w="25400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Example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6261041-A969-449D-B986-65507AF5505A}"/>
                  </a:ext>
                </a:extLst>
              </p:cNvPr>
              <p:cNvSpPr/>
              <p:nvPr/>
            </p:nvSpPr>
            <p:spPr>
              <a:xfrm>
                <a:off x="1415999" y="2119237"/>
                <a:ext cx="9359999" cy="1938992"/>
              </a:xfrm>
              <a:prstGeom prst="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Let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d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acc>
                      <m:accPr>
                        <m:chr m:val="̅"/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r>
                      <a:rPr kumimoji="0" lang="en-US" altLang="zh-CN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be a Boolean</a:t>
                </a:r>
                <a:r>
                  <a:rPr kumimoji="0" lang="en-US" sz="2400" b="0" i="0" u="none" strike="noStrike" kern="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function.</a:t>
                </a: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kern="0" baseline="0" dirty="0">
                    <a:solidFill>
                      <a:prstClr val="black"/>
                    </a:solidFill>
                    <a:latin typeface="Calibri"/>
                  </a:rPr>
                  <a:t>The CNF of </a:t>
                </a:r>
                <a14:m>
                  <m:oMath xmlns:m="http://schemas.openxmlformats.org/officeDocument/2006/math">
                    <m:r>
                      <a:rPr lang="en-US" sz="2400" b="0" i="1" kern="0" baseline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is </a:t>
                </a: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𝑔</m:t>
                      </m:r>
                      <m:d>
                        <m:dPr>
                          <m:ctrlP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=(</m:t>
                      </m:r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)(</m:t>
                      </m:r>
                      <m:acc>
                        <m:accPr>
                          <m:chr m:val="̅"/>
                          <m:ctrlP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acc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The DNF of 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is </a:t>
                </a: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d>
                        <m:dPr>
                          <m:ctrlP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acc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24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acc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r>
                        <a:rPr kumimoji="0" 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6261041-A969-449D-B986-65507AF550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99" y="2119237"/>
                <a:ext cx="9359999" cy="1938992"/>
              </a:xfrm>
              <a:prstGeom prst="rect">
                <a:avLst/>
              </a:prstGeom>
              <a:blipFill>
                <a:blip r:embed="rId2"/>
                <a:stretch>
                  <a:fillRect l="-778" t="-890"/>
                </a:stretch>
              </a:blip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2505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983BE-1BC8-4778-9217-09325F36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2 - To CNF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AA725AD-88D7-47DA-A28D-1B9822659C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is a CNF evaluated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Only if one max-term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Thus, to convert a truth table to </a:t>
                </a:r>
                <a:r>
                  <a:rPr lang="en-US" dirty="0" err="1"/>
                  <a:t>CNF,</a:t>
                </a:r>
                <a:endParaRPr lang="en-US" dirty="0"/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one max-term </a:t>
                </a:r>
                <a:r>
                  <a:rPr lang="en-US" dirty="0"/>
                  <a:t>corresponds to one table row when </a:t>
                </a:r>
                <a:r>
                  <a:rPr lang="en-US" dirty="0">
                    <a:solidFill>
                      <a:srgbClr val="C00000"/>
                    </a:solidFill>
                  </a:rPr>
                  <a:t>the function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;</a:t>
                </a:r>
              </a:p>
              <a:p>
                <a:pPr lvl="1"/>
                <a:r>
                  <a:rPr lang="en-US" dirty="0"/>
                  <a:t>if a variable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has assignment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the </a:t>
                </a:r>
                <a:r>
                  <a:rPr lang="en-US" dirty="0">
                    <a:solidFill>
                      <a:srgbClr val="C00000"/>
                    </a:solidFill>
                  </a:rPr>
                  <a:t>literal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is in the max-term;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otherwise</a:t>
                </a:r>
                <a:r>
                  <a:rPr lang="en-US" dirty="0"/>
                  <a:t>, the </a:t>
                </a:r>
                <a:r>
                  <a:rPr lang="en-US" dirty="0">
                    <a:solidFill>
                      <a:srgbClr val="C00000"/>
                    </a:solidFill>
                  </a:rPr>
                  <a:t>literal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is in the max-term.</a:t>
                </a:r>
              </a:p>
              <a:p>
                <a:r>
                  <a:rPr lang="en-US" dirty="0"/>
                  <a:t>For example,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 The corresponding max-term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AA725AD-88D7-47DA-A28D-1B9822659C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234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0F61A1-E4DC-4376-BBE6-A520217E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2 - To CNF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200ADA1C-96EA-4A1E-A935-C4266623F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CA09813E-879A-4929-95C5-D7355734D93B}"/>
              </a:ext>
            </a:extLst>
          </p:cNvPr>
          <p:cNvSpPr/>
          <p:nvPr/>
        </p:nvSpPr>
        <p:spPr>
          <a:xfrm>
            <a:off x="1416000" y="1690688"/>
            <a:ext cx="9360000" cy="428549"/>
          </a:xfrm>
          <a:custGeom>
            <a:avLst/>
            <a:gdLst>
              <a:gd name="connsiteX0" fmla="*/ 76180 w 9360000"/>
              <a:gd name="connsiteY0" fmla="*/ 0 h 428549"/>
              <a:gd name="connsiteX1" fmla="*/ 9283820 w 9360000"/>
              <a:gd name="connsiteY1" fmla="*/ 0 h 428549"/>
              <a:gd name="connsiteX2" fmla="*/ 9360000 w 9360000"/>
              <a:gd name="connsiteY2" fmla="*/ 76180 h 428549"/>
              <a:gd name="connsiteX3" fmla="*/ 9360000 w 9360000"/>
              <a:gd name="connsiteY3" fmla="*/ 428549 h 428549"/>
              <a:gd name="connsiteX4" fmla="*/ 0 w 9360000"/>
              <a:gd name="connsiteY4" fmla="*/ 428549 h 428549"/>
              <a:gd name="connsiteX5" fmla="*/ 0 w 9360000"/>
              <a:gd name="connsiteY5" fmla="*/ 76180 h 428549"/>
              <a:gd name="connsiteX6" fmla="*/ 76180 w 9360000"/>
              <a:gd name="connsiteY6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60000" h="428549">
                <a:moveTo>
                  <a:pt x="76180" y="0"/>
                </a:moveTo>
                <a:lnTo>
                  <a:pt x="9283820" y="0"/>
                </a:lnTo>
                <a:cubicBezTo>
                  <a:pt x="9325893" y="0"/>
                  <a:pt x="9360000" y="34107"/>
                  <a:pt x="9360000" y="76180"/>
                </a:cubicBezTo>
                <a:lnTo>
                  <a:pt x="9360000" y="428549"/>
                </a:lnTo>
                <a:lnTo>
                  <a:pt x="0" y="428549"/>
                </a:lnTo>
                <a:lnTo>
                  <a:pt x="0" y="76180"/>
                </a:lnTo>
                <a:cubicBezTo>
                  <a:pt x="0" y="34107"/>
                  <a:pt x="34107" y="0"/>
                  <a:pt x="76180" y="0"/>
                </a:cubicBezTo>
                <a:close/>
              </a:path>
            </a:pathLst>
          </a:custGeom>
          <a:solidFill>
            <a:srgbClr val="4BACC6">
              <a:lumMod val="75000"/>
            </a:srgbClr>
          </a:solidFill>
          <a:ln w="25400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Example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6261041-A969-449D-B986-65507AF5505A}"/>
                  </a:ext>
                </a:extLst>
              </p:cNvPr>
              <p:cNvSpPr/>
              <p:nvPr/>
            </p:nvSpPr>
            <p:spPr>
              <a:xfrm>
                <a:off x="1415999" y="2119237"/>
                <a:ext cx="9359999" cy="3785652"/>
              </a:xfrm>
              <a:prstGeom prst="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CNF of </a:t>
                </a: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kern="0" dirty="0">
                  <a:solidFill>
                    <a:prstClr val="black"/>
                  </a:solidFill>
                  <a:latin typeface="Calibri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kern="0" dirty="0">
                  <a:solidFill>
                    <a:prstClr val="black"/>
                  </a:solidFill>
                  <a:latin typeface="Calibri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kern="0" dirty="0">
                  <a:solidFill>
                    <a:prstClr val="black"/>
                  </a:solidFill>
                  <a:latin typeface="Calibri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is </a:t>
                </a: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acc>
                        <m:accPr>
                          <m:chr m:val="̅"/>
                          <m:ctrlP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kern="0" dirty="0">
                  <a:solidFill>
                    <a:prstClr val="black"/>
                  </a:solidFill>
                  <a:latin typeface="Calibri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kern="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6261041-A969-449D-B986-65507AF550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99" y="2119237"/>
                <a:ext cx="9359999" cy="3785652"/>
              </a:xfrm>
              <a:prstGeom prst="rect">
                <a:avLst/>
              </a:prstGeom>
              <a:blipFill>
                <a:blip r:embed="rId2"/>
                <a:stretch>
                  <a:fillRect l="-778" t="-471"/>
                </a:stretch>
              </a:blip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41E5BC19-2038-4715-B123-8BA39A7587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8675802"/>
                  </p:ext>
                </p:extLst>
              </p:nvPr>
            </p:nvGraphicFramePr>
            <p:xfrm>
              <a:off x="3935998" y="2653241"/>
              <a:ext cx="432000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72912766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365962216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510204526"/>
                        </a:ext>
                      </a:extLst>
                    </a:gridCol>
                  </a:tblGrid>
                  <a:tr h="1980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7657455"/>
                      </a:ext>
                    </a:extLst>
                  </a:tr>
                  <a:tr h="1980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9383240"/>
                      </a:ext>
                    </a:extLst>
                  </a:tr>
                  <a:tr h="1980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083527"/>
                      </a:ext>
                    </a:extLst>
                  </a:tr>
                  <a:tr h="1980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1381955"/>
                      </a:ext>
                    </a:extLst>
                  </a:tr>
                  <a:tr h="1980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75625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41E5BC19-2038-4715-B123-8BA39A7587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8675802"/>
                  </p:ext>
                </p:extLst>
              </p:nvPr>
            </p:nvGraphicFramePr>
            <p:xfrm>
              <a:off x="3935998" y="2653241"/>
              <a:ext cx="432000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72912766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365962216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51020452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2" t="-1667" r="-201266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47" t="-1667" r="-102119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67" r="-1688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765745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2" t="-101667" r="-201266" b="-3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47" t="-101667" r="-102119" b="-3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67" r="-1688" b="-3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93832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2" t="-198361" r="-20126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47" t="-198361" r="-10211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98361" r="-168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08352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2" t="-303333" r="-201266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47" t="-303333" r="-102119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3333" r="-1688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138195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2" t="-403333" r="-201266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47" t="-403333" r="-10211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403333" r="-1688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75625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845523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983BE-1BC8-4778-9217-09325F36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2 - To DNF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AA725AD-88D7-47DA-A28D-1B9822659C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which case is a DNF evaluated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Only if one min-term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Thus, to convert a truth table to DNF,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one min-term </a:t>
                </a:r>
                <a:r>
                  <a:rPr lang="en-US" dirty="0"/>
                  <a:t>corresponds to one table row when </a:t>
                </a:r>
                <a:r>
                  <a:rPr lang="en-US" dirty="0">
                    <a:solidFill>
                      <a:srgbClr val="C00000"/>
                    </a:solidFill>
                  </a:rPr>
                  <a:t>the function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;</a:t>
                </a:r>
              </a:p>
              <a:p>
                <a:pPr lvl="1"/>
                <a:r>
                  <a:rPr lang="en-US" dirty="0"/>
                  <a:t>if a variable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has assignment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the </a:t>
                </a:r>
                <a:r>
                  <a:rPr lang="en-US" dirty="0">
                    <a:solidFill>
                      <a:srgbClr val="C00000"/>
                    </a:solidFill>
                  </a:rPr>
                  <a:t>literal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is in the min-term;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otherwise</a:t>
                </a:r>
                <a:r>
                  <a:rPr lang="en-US" dirty="0"/>
                  <a:t>, the </a:t>
                </a:r>
                <a:r>
                  <a:rPr lang="en-US" dirty="0">
                    <a:solidFill>
                      <a:srgbClr val="C00000"/>
                    </a:solidFill>
                  </a:rPr>
                  <a:t>literal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is in the min-term.</a:t>
                </a:r>
              </a:p>
              <a:p>
                <a:r>
                  <a:rPr lang="en-US" dirty="0"/>
                  <a:t>For example,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The corresponding min-term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AA725AD-88D7-47DA-A28D-1B9822659C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738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0F61A1-E4DC-4376-BBE6-A520217E8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2 - To DNF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200ADA1C-96EA-4A1E-A935-C4266623F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CA09813E-879A-4929-95C5-D7355734D93B}"/>
              </a:ext>
            </a:extLst>
          </p:cNvPr>
          <p:cNvSpPr/>
          <p:nvPr/>
        </p:nvSpPr>
        <p:spPr>
          <a:xfrm>
            <a:off x="1416000" y="1690688"/>
            <a:ext cx="9360000" cy="428549"/>
          </a:xfrm>
          <a:custGeom>
            <a:avLst/>
            <a:gdLst>
              <a:gd name="connsiteX0" fmla="*/ 76180 w 9360000"/>
              <a:gd name="connsiteY0" fmla="*/ 0 h 428549"/>
              <a:gd name="connsiteX1" fmla="*/ 9283820 w 9360000"/>
              <a:gd name="connsiteY1" fmla="*/ 0 h 428549"/>
              <a:gd name="connsiteX2" fmla="*/ 9360000 w 9360000"/>
              <a:gd name="connsiteY2" fmla="*/ 76180 h 428549"/>
              <a:gd name="connsiteX3" fmla="*/ 9360000 w 9360000"/>
              <a:gd name="connsiteY3" fmla="*/ 428549 h 428549"/>
              <a:gd name="connsiteX4" fmla="*/ 0 w 9360000"/>
              <a:gd name="connsiteY4" fmla="*/ 428549 h 428549"/>
              <a:gd name="connsiteX5" fmla="*/ 0 w 9360000"/>
              <a:gd name="connsiteY5" fmla="*/ 76180 h 428549"/>
              <a:gd name="connsiteX6" fmla="*/ 76180 w 9360000"/>
              <a:gd name="connsiteY6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60000" h="428549">
                <a:moveTo>
                  <a:pt x="76180" y="0"/>
                </a:moveTo>
                <a:lnTo>
                  <a:pt x="9283820" y="0"/>
                </a:lnTo>
                <a:cubicBezTo>
                  <a:pt x="9325893" y="0"/>
                  <a:pt x="9360000" y="34107"/>
                  <a:pt x="9360000" y="76180"/>
                </a:cubicBezTo>
                <a:lnTo>
                  <a:pt x="9360000" y="428549"/>
                </a:lnTo>
                <a:lnTo>
                  <a:pt x="0" y="428549"/>
                </a:lnTo>
                <a:lnTo>
                  <a:pt x="0" y="76180"/>
                </a:lnTo>
                <a:cubicBezTo>
                  <a:pt x="0" y="34107"/>
                  <a:pt x="34107" y="0"/>
                  <a:pt x="76180" y="0"/>
                </a:cubicBezTo>
                <a:close/>
              </a:path>
            </a:pathLst>
          </a:custGeom>
          <a:solidFill>
            <a:srgbClr val="4BACC6">
              <a:lumMod val="75000"/>
            </a:srgbClr>
          </a:solidFill>
          <a:ln w="25400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Example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6261041-A969-449D-B986-65507AF5505A}"/>
                  </a:ext>
                </a:extLst>
              </p:cNvPr>
              <p:cNvSpPr/>
              <p:nvPr/>
            </p:nvSpPr>
            <p:spPr>
              <a:xfrm>
                <a:off x="1415999" y="2119237"/>
                <a:ext cx="9359999" cy="3830729"/>
              </a:xfrm>
              <a:prstGeom prst="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DNF of </a:t>
                </a: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kern="0" dirty="0">
                  <a:solidFill>
                    <a:prstClr val="black"/>
                  </a:solidFill>
                  <a:latin typeface="Calibri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kern="0" dirty="0">
                  <a:solidFill>
                    <a:prstClr val="black"/>
                  </a:solidFill>
                  <a:latin typeface="Calibri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kern="0" dirty="0">
                  <a:solidFill>
                    <a:prstClr val="black"/>
                  </a:solidFill>
                  <a:latin typeface="Calibri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is </a:t>
                </a: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̅"/>
                          <m:ctrlP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kern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kern="0" dirty="0">
                  <a:solidFill>
                    <a:prstClr val="black"/>
                  </a:solidFill>
                  <a:latin typeface="Calibri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kern="0" dirty="0">
                  <a:solidFill>
                    <a:prstClr val="black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6261041-A969-449D-B986-65507AF550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99" y="2119237"/>
                <a:ext cx="9359999" cy="3830729"/>
              </a:xfrm>
              <a:prstGeom prst="rect">
                <a:avLst/>
              </a:prstGeom>
              <a:blipFill>
                <a:blip r:embed="rId2"/>
                <a:stretch>
                  <a:fillRect l="-778" t="-466"/>
                </a:stretch>
              </a:blip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41E5BC19-2038-4715-B123-8BA39A7587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705086"/>
                  </p:ext>
                </p:extLst>
              </p:nvPr>
            </p:nvGraphicFramePr>
            <p:xfrm>
              <a:off x="3935998" y="2653241"/>
              <a:ext cx="432000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72912766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365962216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510204526"/>
                        </a:ext>
                      </a:extLst>
                    </a:gridCol>
                  </a:tblGrid>
                  <a:tr h="1980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7657455"/>
                      </a:ext>
                    </a:extLst>
                  </a:tr>
                  <a:tr h="1980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9383240"/>
                      </a:ext>
                    </a:extLst>
                  </a:tr>
                  <a:tr h="1980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083527"/>
                      </a:ext>
                    </a:extLst>
                  </a:tr>
                  <a:tr h="1980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1381955"/>
                      </a:ext>
                    </a:extLst>
                  </a:tr>
                  <a:tr h="1980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75625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41E5BC19-2038-4715-B123-8BA39A7587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705086"/>
                  </p:ext>
                </p:extLst>
              </p:nvPr>
            </p:nvGraphicFramePr>
            <p:xfrm>
              <a:off x="3935998" y="2653241"/>
              <a:ext cx="4320000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val="729127662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365962216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val="251020452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2" t="-1667" r="-201266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47" t="-1667" r="-102119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67" r="-1688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765745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2" t="-101667" r="-201266" b="-3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47" t="-101667" r="-102119" b="-3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667" r="-1688" b="-3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938324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2" t="-198361" r="-20126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47" t="-198361" r="-10211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98361" r="-168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08352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2" t="-303333" r="-201266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47" t="-303333" r="-102119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3333" r="-1688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138195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22" t="-403333" r="-201266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47" t="-403333" r="-10211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403333" r="-1688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75625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641372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3DF59-5BC4-4387-8937-8384240A3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3 - Minimization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F1B3C8-7C0A-459C-921E-FA65516A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Boolean identities, some Boolean functions are identical.</a:t>
            </a:r>
          </a:p>
          <a:p>
            <a:r>
              <a:rPr lang="en-US" dirty="0"/>
              <a:t>For application purposes, we implement the simplest one.</a:t>
            </a:r>
          </a:p>
          <a:p>
            <a:r>
              <a:rPr lang="en-US" dirty="0"/>
              <a:t>Minimization </a:t>
            </a:r>
            <a:r>
              <a:rPr lang="en-US" altLang="zh-CN" dirty="0"/>
              <a:t>relies on</a:t>
            </a:r>
            <a:r>
              <a:rPr lang="en-US" dirty="0"/>
              <a:t> Boolean identities and simplification.</a:t>
            </a:r>
          </a:p>
          <a:p>
            <a:r>
              <a:rPr lang="en-US" dirty="0"/>
              <a:t>But, if the minimization directly uses identity laws, the implementation (computer program) must enumerate all possible laws every step, which is not efficient.</a:t>
            </a:r>
          </a:p>
          <a:p>
            <a:r>
              <a:rPr lang="en-US" dirty="0"/>
              <a:t>To maximize the efficiency, </a:t>
            </a:r>
            <a:r>
              <a:rPr lang="en-US" b="1" dirty="0">
                <a:solidFill>
                  <a:srgbClr val="C00000"/>
                </a:solidFill>
              </a:rPr>
              <a:t>Karnaugh map</a:t>
            </a:r>
            <a:r>
              <a:rPr lang="en-US" dirty="0"/>
              <a:t> is used.</a:t>
            </a:r>
          </a:p>
          <a:p>
            <a:r>
              <a:rPr lang="en-US" dirty="0"/>
              <a:t>Karnaugh map is </a:t>
            </a:r>
            <a:r>
              <a:rPr lang="en-US" b="1" dirty="0">
                <a:solidFill>
                  <a:srgbClr val="C00000"/>
                </a:solidFill>
              </a:rPr>
              <a:t>only for DNF</a:t>
            </a:r>
            <a:r>
              <a:rPr lang="en-US" dirty="0"/>
              <a:t>.</a:t>
            </a:r>
          </a:p>
          <a:p>
            <a:r>
              <a:rPr lang="en-US" dirty="0"/>
              <a:t>After minimization, the Boolean function may not be in DNF.</a:t>
            </a:r>
          </a:p>
        </p:txBody>
      </p:sp>
    </p:spTree>
    <p:extLst>
      <p:ext uri="{BB962C8B-B14F-4D97-AF65-F5344CB8AC3E}">
        <p14:creationId xmlns:p14="http://schemas.microsoft.com/office/powerpoint/2010/main" val="286731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F16DBB-E4BC-4C28-86CD-CB3A38BE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3 - Minimization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0643ED-5A32-40E1-B31F-EAC22F6A0A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22814"/>
              </a:xfrm>
            </p:spPr>
            <p:txBody>
              <a:bodyPr/>
              <a:lstStyle/>
              <a:p>
                <a:r>
                  <a:rPr lang="en-US" dirty="0"/>
                  <a:t>The formal definition of Karnaugh map is from abstract algebra.</a:t>
                </a:r>
              </a:p>
              <a:p>
                <a:r>
                  <a:rPr lang="en-US" dirty="0"/>
                  <a:t>So, we </a:t>
                </a:r>
                <a:r>
                  <a:rPr lang="en-US" altLang="zh-CN" dirty="0"/>
                  <a:t>demonstrate Karnaugh map by examples.</a:t>
                </a:r>
              </a:p>
              <a:p>
                <a:r>
                  <a:rPr lang="en-US" dirty="0"/>
                  <a:t>The Karnaugh map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is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One row for one literal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one column for one literal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Each cell is one possible min-term.</a:t>
                </a:r>
              </a:p>
              <a:p>
                <a:r>
                  <a:rPr lang="en-US" dirty="0"/>
                  <a:t>Mark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if the min-term is in the DNF expression.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0643ED-5A32-40E1-B31F-EAC22F6A0A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22814"/>
              </a:xfrm>
              <a:blipFill>
                <a:blip r:embed="rId2"/>
                <a:stretch>
                  <a:fillRect l="-1043" t="-2194" b="-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5564FEF8-F562-48C6-B436-4E2D9A13CF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6360278"/>
                  </p:ext>
                </p:extLst>
              </p:nvPr>
            </p:nvGraphicFramePr>
            <p:xfrm>
              <a:off x="5016000" y="3445034"/>
              <a:ext cx="2160000" cy="111252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41282002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15364639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462928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7237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0176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04367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5564FEF8-F562-48C6-B436-4E2D9A13CF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6360278"/>
                  </p:ext>
                </p:extLst>
              </p:nvPr>
            </p:nvGraphicFramePr>
            <p:xfrm>
              <a:off x="5016000" y="3445034"/>
              <a:ext cx="2160000" cy="111252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41282002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15364639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462928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847" r="-103390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160" r="-2521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237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0000" r="-201681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847" t="-100000" r="-103390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160" t="-100000" r="-2521" b="-1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176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0000" r="-201681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04367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7772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F16DBB-E4BC-4C28-86CD-CB3A38BE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3 - Minimization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0643ED-5A32-40E1-B31F-EAC22F6A0A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22814"/>
              </a:xfrm>
            </p:spPr>
            <p:txBody>
              <a:bodyPr/>
              <a:lstStyle/>
              <a:p>
                <a:r>
                  <a:rPr lang="en-US" dirty="0"/>
                  <a:t>If two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’s are next to each other (vertically or horizontally), combine the two min-terms, by the reversed distributive law.</a:t>
                </a:r>
              </a:p>
              <a:p>
                <a:r>
                  <a:rPr lang="en-US" dirty="0"/>
                  <a:t>For example,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are neighbors.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minimization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⋅1=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0643ED-5A32-40E1-B31F-EAC22F6A0A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22814"/>
              </a:xfrm>
              <a:blipFill>
                <a:blip r:embed="rId2"/>
                <a:stretch>
                  <a:fillRect l="-1043" t="-2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5564FEF8-F562-48C6-B436-4E2D9A13CF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9273287"/>
                  </p:ext>
                </p:extLst>
              </p:nvPr>
            </p:nvGraphicFramePr>
            <p:xfrm>
              <a:off x="5016000" y="3445034"/>
              <a:ext cx="2160000" cy="111252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41282002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15364639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462928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7237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0176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04367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5564FEF8-F562-48C6-B436-4E2D9A13CF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9273287"/>
                  </p:ext>
                </p:extLst>
              </p:nvPr>
            </p:nvGraphicFramePr>
            <p:xfrm>
              <a:off x="5016000" y="3445034"/>
              <a:ext cx="2160000" cy="111252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41282002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15364639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462928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847" r="-103390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160" r="-2521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237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0000" r="-201681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847" t="-100000" r="-103390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160" t="-100000" r="-2521" b="-1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176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0000" r="-201681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04367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4553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E4CB8E-E12D-4EFA-B6A4-1E665E03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3 - Minimization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8C3185-896E-428B-9B6E-E2AF2D3BC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E00AD81A-B9D4-4AF5-BB7B-EF7AE78F3FB3}"/>
              </a:ext>
            </a:extLst>
          </p:cNvPr>
          <p:cNvSpPr/>
          <p:nvPr/>
        </p:nvSpPr>
        <p:spPr>
          <a:xfrm>
            <a:off x="1416000" y="1690688"/>
            <a:ext cx="9360000" cy="428549"/>
          </a:xfrm>
          <a:custGeom>
            <a:avLst/>
            <a:gdLst>
              <a:gd name="connsiteX0" fmla="*/ 76180 w 9360000"/>
              <a:gd name="connsiteY0" fmla="*/ 0 h 428549"/>
              <a:gd name="connsiteX1" fmla="*/ 9283820 w 9360000"/>
              <a:gd name="connsiteY1" fmla="*/ 0 h 428549"/>
              <a:gd name="connsiteX2" fmla="*/ 9360000 w 9360000"/>
              <a:gd name="connsiteY2" fmla="*/ 76180 h 428549"/>
              <a:gd name="connsiteX3" fmla="*/ 9360000 w 9360000"/>
              <a:gd name="connsiteY3" fmla="*/ 428549 h 428549"/>
              <a:gd name="connsiteX4" fmla="*/ 0 w 9360000"/>
              <a:gd name="connsiteY4" fmla="*/ 428549 h 428549"/>
              <a:gd name="connsiteX5" fmla="*/ 0 w 9360000"/>
              <a:gd name="connsiteY5" fmla="*/ 76180 h 428549"/>
              <a:gd name="connsiteX6" fmla="*/ 76180 w 9360000"/>
              <a:gd name="connsiteY6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60000" h="428549">
                <a:moveTo>
                  <a:pt x="76180" y="0"/>
                </a:moveTo>
                <a:lnTo>
                  <a:pt x="9283820" y="0"/>
                </a:lnTo>
                <a:cubicBezTo>
                  <a:pt x="9325893" y="0"/>
                  <a:pt x="9360000" y="34107"/>
                  <a:pt x="9360000" y="76180"/>
                </a:cubicBezTo>
                <a:lnTo>
                  <a:pt x="9360000" y="428549"/>
                </a:lnTo>
                <a:lnTo>
                  <a:pt x="0" y="428549"/>
                </a:lnTo>
                <a:lnTo>
                  <a:pt x="0" y="76180"/>
                </a:lnTo>
                <a:cubicBezTo>
                  <a:pt x="0" y="34107"/>
                  <a:pt x="34107" y="0"/>
                  <a:pt x="76180" y="0"/>
                </a:cubicBezTo>
                <a:close/>
              </a:path>
            </a:pathLst>
          </a:custGeom>
          <a:solidFill>
            <a:srgbClr val="4BACC6">
              <a:lumMod val="75000"/>
            </a:srgbClr>
          </a:solidFill>
          <a:ln w="25400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Example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D6CE2F-DB02-49A6-8512-1476BA36AC8E}"/>
              </a:ext>
            </a:extLst>
          </p:cNvPr>
          <p:cNvSpPr/>
          <p:nvPr/>
        </p:nvSpPr>
        <p:spPr>
          <a:xfrm>
            <a:off x="1415999" y="2119237"/>
            <a:ext cx="9359999" cy="1938992"/>
          </a:xfrm>
          <a:prstGeom prst="rect">
            <a:avLst/>
          </a:prstGeom>
          <a:solidFill>
            <a:srgbClr val="4BACC6">
              <a:lumMod val="20000"/>
              <a:lumOff val="80000"/>
            </a:srgbClr>
          </a:solidFill>
          <a:ln w="25400" cap="flat" cmpd="sng" algn="ctr">
            <a:solidFill>
              <a:srgbClr val="4BACC6">
                <a:lumMod val="20000"/>
                <a:lumOff val="80000"/>
              </a:srgbClr>
            </a:solidFill>
            <a:prstDash val="solid"/>
          </a:ln>
          <a:effectLst>
            <a:outerShdw blurRad="50800" dist="38100" dir="5400000" sx="99000" sy="99000" algn="t" rotWithShape="0">
              <a:prstClr val="black">
                <a:alpha val="40000"/>
              </a:prstClr>
            </a:outerShdw>
          </a:effectLst>
        </p:spPr>
        <p:txBody>
          <a:bodyPr wrap="square" lIns="90000" rtlCol="0" anchor="t" anchorCtr="0">
            <a:spAutoFit/>
          </a:bodyPr>
          <a:lstStyle/>
          <a:p>
            <a:pPr marL="0" marR="0" lvl="0" indent="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Minimize the Boolean function by its Karnaugh map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24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2400" kern="0" dirty="0">
              <a:solidFill>
                <a:prstClr val="black"/>
              </a:solidFill>
              <a:latin typeface="Calibri"/>
            </a:endParaRPr>
          </a:p>
          <a:p>
            <a:pPr marL="0" marR="0" lvl="0" indent="0" defTabSz="36036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8BCFF40F-C292-44F1-AF9E-E47F8E9287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5346808"/>
                  </p:ext>
                </p:extLst>
              </p:nvPr>
            </p:nvGraphicFramePr>
            <p:xfrm>
              <a:off x="5016000" y="2668747"/>
              <a:ext cx="2160000" cy="111252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41282002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15364639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462928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7237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0176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04367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8BCFF40F-C292-44F1-AF9E-E47F8E9287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5346808"/>
                  </p:ext>
                </p:extLst>
              </p:nvPr>
            </p:nvGraphicFramePr>
            <p:xfrm>
              <a:off x="5016000" y="2668747"/>
              <a:ext cx="2160000" cy="111252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41282002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15364639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462928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847" r="-10339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160" r="-2521" b="-2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237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98387" r="-201681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847" t="-98387" r="-103390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160" t="-98387" r="-2521" b="-1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176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1639" r="-201681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160" t="-201639" r="-2521" b="-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04367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858959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E4CB8E-E12D-4EFA-B6A4-1E665E03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3 - Minimization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8C3185-896E-428B-9B6E-E2AF2D3BC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E00AD81A-B9D4-4AF5-BB7B-EF7AE78F3FB3}"/>
              </a:ext>
            </a:extLst>
          </p:cNvPr>
          <p:cNvSpPr/>
          <p:nvPr/>
        </p:nvSpPr>
        <p:spPr>
          <a:xfrm>
            <a:off x="1416000" y="1690688"/>
            <a:ext cx="9360000" cy="428549"/>
          </a:xfrm>
          <a:custGeom>
            <a:avLst/>
            <a:gdLst>
              <a:gd name="connsiteX0" fmla="*/ 76180 w 9360000"/>
              <a:gd name="connsiteY0" fmla="*/ 0 h 428549"/>
              <a:gd name="connsiteX1" fmla="*/ 9283820 w 9360000"/>
              <a:gd name="connsiteY1" fmla="*/ 0 h 428549"/>
              <a:gd name="connsiteX2" fmla="*/ 9360000 w 9360000"/>
              <a:gd name="connsiteY2" fmla="*/ 76180 h 428549"/>
              <a:gd name="connsiteX3" fmla="*/ 9360000 w 9360000"/>
              <a:gd name="connsiteY3" fmla="*/ 428549 h 428549"/>
              <a:gd name="connsiteX4" fmla="*/ 0 w 9360000"/>
              <a:gd name="connsiteY4" fmla="*/ 428549 h 428549"/>
              <a:gd name="connsiteX5" fmla="*/ 0 w 9360000"/>
              <a:gd name="connsiteY5" fmla="*/ 76180 h 428549"/>
              <a:gd name="connsiteX6" fmla="*/ 76180 w 9360000"/>
              <a:gd name="connsiteY6" fmla="*/ 0 h 4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60000" h="428549">
                <a:moveTo>
                  <a:pt x="76180" y="0"/>
                </a:moveTo>
                <a:lnTo>
                  <a:pt x="9283820" y="0"/>
                </a:lnTo>
                <a:cubicBezTo>
                  <a:pt x="9325893" y="0"/>
                  <a:pt x="9360000" y="34107"/>
                  <a:pt x="9360000" y="76180"/>
                </a:cubicBezTo>
                <a:lnTo>
                  <a:pt x="9360000" y="428549"/>
                </a:lnTo>
                <a:lnTo>
                  <a:pt x="0" y="428549"/>
                </a:lnTo>
                <a:lnTo>
                  <a:pt x="0" y="76180"/>
                </a:lnTo>
                <a:cubicBezTo>
                  <a:pt x="0" y="34107"/>
                  <a:pt x="34107" y="0"/>
                  <a:pt x="76180" y="0"/>
                </a:cubicBezTo>
                <a:close/>
              </a:path>
            </a:pathLst>
          </a:custGeom>
          <a:solidFill>
            <a:srgbClr val="4BACC6">
              <a:lumMod val="75000"/>
            </a:srgbClr>
          </a:solidFill>
          <a:ln w="25400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  <p:txBody>
          <a:bodyPr rot="0" spcFirstLastPara="0" vertOverflow="overflow" horzOverflow="overflow" vert="horz" wrap="square" lIns="9000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Example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7D6CE2F-DB02-49A6-8512-1476BA36AC8E}"/>
                  </a:ext>
                </a:extLst>
              </p:cNvPr>
              <p:cNvSpPr/>
              <p:nvPr/>
            </p:nvSpPr>
            <p:spPr>
              <a:xfrm>
                <a:off x="1415999" y="2119237"/>
                <a:ext cx="9359999" cy="3461397"/>
              </a:xfrm>
              <a:prstGeom prst="rect">
                <a:avLst/>
              </a:prstGeom>
              <a:solidFill>
                <a:srgbClr val="4BACC6">
                  <a:lumMod val="20000"/>
                  <a:lumOff val="80000"/>
                </a:srgbClr>
              </a:solid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90000" rtlCol="0" anchor="t" anchorCtr="0">
                <a:spAutoFit/>
              </a:bodyPr>
              <a:lstStyle/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Minimize the Boolean function by its Karnaugh map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kern="0" dirty="0">
                  <a:solidFill>
                    <a:prstClr val="black"/>
                  </a:solidFill>
                  <a:latin typeface="Calibri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kern="0" dirty="0">
                  <a:solidFill>
                    <a:prstClr val="black"/>
                  </a:solidFill>
                  <a:latin typeface="Calibri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0" marR="0" lvl="0" indent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Ans. Two pairs of neighboring min-terms.</a:t>
                </a:r>
              </a:p>
              <a:p>
                <a:pPr marL="342900" marR="0" lvl="0" indent="-34290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and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acc>
                      <m:accPr>
                        <m:chr m:val="̅"/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are combined into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, and</a:t>
                </a:r>
              </a:p>
              <a:p>
                <a:pPr marL="342900" marR="0" lvl="0" indent="-34290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acc>
                      <m:accPr>
                        <m:chr m:val="̅"/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</m:acc>
                    <m:r>
                      <a:rPr kumimoji="0" lang="en-US" altLang="zh-CN" sz="24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⋅</m:t>
                    </m:r>
                    <m:acc>
                      <m:accPr>
                        <m:chr m:val="̅"/>
                        <m:ctrlPr>
                          <a:rPr kumimoji="0" lang="en-US" altLang="zh-CN" sz="24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0" i="1" u="none" strike="noStrike" kern="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are combined into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.</a:t>
                </a:r>
              </a:p>
              <a:p>
                <a:pPr marR="0" lvl="0" defTabSz="36036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  <a:defRPr/>
                </a:pPr>
                <a:r>
                  <a:rPr lang="en-US" sz="2400" kern="0" dirty="0">
                    <a:solidFill>
                      <a:prstClr val="black"/>
                    </a:solidFill>
                    <a:latin typeface="Calibri"/>
                  </a:rPr>
                  <a:t>Thus, </a:t>
                </a:r>
                <a14:m>
                  <m:oMath xmlns:m="http://schemas.openxmlformats.org/officeDocument/2006/math"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kern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kern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7D6CE2F-DB02-49A6-8512-1476BA36AC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999" y="2119237"/>
                <a:ext cx="9359999" cy="3461397"/>
              </a:xfrm>
              <a:prstGeom prst="rect">
                <a:avLst/>
              </a:prstGeom>
              <a:blipFill>
                <a:blip r:embed="rId2"/>
                <a:stretch>
                  <a:fillRect l="-778" t="-515"/>
                </a:stretch>
              </a:blipFill>
              <a:ln w="25400" cap="flat" cmpd="sng" algn="ctr">
                <a:solidFill>
                  <a:srgbClr val="4BACC6">
                    <a:lumMod val="20000"/>
                    <a:lumOff val="80000"/>
                  </a:srgbClr>
                </a:solidFill>
                <a:prstDash val="solid"/>
              </a:ln>
              <a:effectLst>
                <a:outerShdw blurRad="50800" dist="38100" dir="5400000" sx="99000" sy="99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8BCFF40F-C292-44F1-AF9E-E47F8E9287F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16000" y="2668747"/>
              <a:ext cx="2160000" cy="111252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41282002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15364639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462928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7237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0176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04367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8BCFF40F-C292-44F1-AF9E-E47F8E9287F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16000" y="2668747"/>
              <a:ext cx="2160000" cy="111252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41282002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15364639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462928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847" r="-103390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160" r="-2521" b="-2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237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98387" r="-201681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847" t="-98387" r="-103390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160" t="-98387" r="-2521" b="-1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176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1639" r="-201681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9160" t="-201639" r="-2521" b="-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04367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798391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E4CB8E-E12D-4EFA-B6A4-1E665E03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3 - Minimization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E8C3185-896E-428B-9B6E-E2AF2D3BCB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Karnaugh map for binary (two variables) functions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-dimensional, one dimension for one variable.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-variable functions,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-dimensional tables are complex.</a:t>
                </a:r>
              </a:p>
              <a:p>
                <a:r>
                  <a:rPr lang="en-US" dirty="0"/>
                  <a:t>Thus,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-dimensional tables are still used. </a:t>
                </a:r>
              </a:p>
              <a:p>
                <a:r>
                  <a:rPr lang="en-US" dirty="0"/>
                  <a:t>But,  rows/columns enumerate all combinations of literals.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Neighboring rows/columns differ at exactly one literal.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E8C3185-896E-428B-9B6E-E2AF2D3BCB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E4CB8E-E12D-4EFA-B6A4-1E665E03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3 - Minimization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E8C3185-896E-428B-9B6E-E2AF2D3BCB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For example, the 3</a:t>
                </a:r>
                <a:r>
                  <a:rPr lang="en-US" baseline="30000" dirty="0"/>
                  <a:t>rd</a:t>
                </a:r>
                <a:r>
                  <a:rPr lang="en-US" dirty="0"/>
                  <a:t> column is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dirty="0"/>
                  <a:t> and next 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By definition,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dirty="0"/>
                  <a:t> is next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(even if they are not </a:t>
                </a:r>
                <a:r>
                  <a:rPr lang="en-US" altLang="zh-CN" dirty="0"/>
                  <a:t>visually</a:t>
                </a:r>
                <a:r>
                  <a:rPr lang="en-US" dirty="0"/>
                  <a:t>).</a:t>
                </a:r>
              </a:p>
              <a:p>
                <a:r>
                  <a:rPr lang="en-US" dirty="0"/>
                  <a:t>Regard the 3-variable table as a </a:t>
                </a:r>
                <a:r>
                  <a:rPr lang="en-US" altLang="zh-CN" dirty="0"/>
                  <a:t>circular belt and 4-variable table as the surface of a ball.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E8C3185-896E-428B-9B6E-E2AF2D3BCB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E0C5EF53-9046-46D1-A3A7-7DC98D4B3B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1504756"/>
                  </p:ext>
                </p:extLst>
              </p:nvPr>
            </p:nvGraphicFramePr>
            <p:xfrm>
              <a:off x="1657258" y="1690688"/>
              <a:ext cx="3600000" cy="111252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41282002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15364639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4629289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86843149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8240071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7237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0176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04367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E0C5EF53-9046-46D1-A3A7-7DC98D4B3B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1504756"/>
                  </p:ext>
                </p:extLst>
              </p:nvPr>
            </p:nvGraphicFramePr>
            <p:xfrm>
              <a:off x="1657258" y="1690688"/>
              <a:ext cx="3600000" cy="111252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41282002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15364639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4629289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86843149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8240071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9160" r="-300840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847" r="-203390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8319" r="-101681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01695" r="-2542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237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0000" r="-404237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0176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0000" r="-404237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04367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4741E3F1-CAF4-4B18-A576-0CA529697A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7850553"/>
                  </p:ext>
                </p:extLst>
              </p:nvPr>
            </p:nvGraphicFramePr>
            <p:xfrm>
              <a:off x="6934742" y="1690688"/>
              <a:ext cx="3600000" cy="18542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41282002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15364639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4629289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86843149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8240071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7237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0176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0436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27153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45391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4741E3F1-CAF4-4B18-A576-0CA529697A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7850553"/>
                  </p:ext>
                </p:extLst>
              </p:nvPr>
            </p:nvGraphicFramePr>
            <p:xfrm>
              <a:off x="6934742" y="1690688"/>
              <a:ext cx="3600000" cy="18542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41282002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15364639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4629289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86843149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82400715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9160" r="-300840" b="-4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00847" r="-203390" b="-4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98319" r="-101681" b="-4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401695" r="-2542" b="-4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7237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100000" r="-404237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0176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200000" r="-404237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804367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300000" r="-404237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27153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00000" r="-404237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45391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弧形 5">
            <a:extLst>
              <a:ext uri="{FF2B5EF4-FFF2-40B4-BE49-F238E27FC236}">
                <a16:creationId xmlns:a16="http://schemas.microsoft.com/office/drawing/2014/main" id="{C774F74F-5E27-4E10-9AE8-53A1AEC03D3E}"/>
              </a:ext>
            </a:extLst>
          </p:cNvPr>
          <p:cNvSpPr/>
          <p:nvPr/>
        </p:nvSpPr>
        <p:spPr>
          <a:xfrm flipH="1">
            <a:off x="6531050" y="1608614"/>
            <a:ext cx="1328738" cy="2381250"/>
          </a:xfrm>
          <a:prstGeom prst="arc">
            <a:avLst>
              <a:gd name="adj1" fmla="val 14881595"/>
              <a:gd name="adj2" fmla="val 6795550"/>
            </a:avLst>
          </a:prstGeom>
          <a:ln w="41275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弧形 6">
            <a:extLst>
              <a:ext uri="{FF2B5EF4-FFF2-40B4-BE49-F238E27FC236}">
                <a16:creationId xmlns:a16="http://schemas.microsoft.com/office/drawing/2014/main" id="{BF70E33D-9A8E-4701-B59D-0E8FBCB2504F}"/>
              </a:ext>
            </a:extLst>
          </p:cNvPr>
          <p:cNvSpPr/>
          <p:nvPr/>
        </p:nvSpPr>
        <p:spPr>
          <a:xfrm rot="16200000" flipV="1">
            <a:off x="8386044" y="548959"/>
            <a:ext cx="1328738" cy="2381250"/>
          </a:xfrm>
          <a:prstGeom prst="arc">
            <a:avLst>
              <a:gd name="adj1" fmla="val 16025401"/>
              <a:gd name="adj2" fmla="val 5628347"/>
            </a:avLst>
          </a:prstGeom>
          <a:ln w="41275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弧形 7">
            <a:extLst>
              <a:ext uri="{FF2B5EF4-FFF2-40B4-BE49-F238E27FC236}">
                <a16:creationId xmlns:a16="http://schemas.microsoft.com/office/drawing/2014/main" id="{D5FEB0C7-55DE-4C80-8535-A50327CB1D49}"/>
              </a:ext>
            </a:extLst>
          </p:cNvPr>
          <p:cNvSpPr/>
          <p:nvPr/>
        </p:nvSpPr>
        <p:spPr>
          <a:xfrm rot="5400000">
            <a:off x="3138404" y="1747520"/>
            <a:ext cx="1328738" cy="2381250"/>
          </a:xfrm>
          <a:prstGeom prst="arc">
            <a:avLst>
              <a:gd name="adj1" fmla="val 16025401"/>
              <a:gd name="adj2" fmla="val 5628347"/>
            </a:avLst>
          </a:prstGeom>
          <a:ln w="41275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5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1D78B4-42EC-4139-AF5C-6010E318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Electronic Implementation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F3A02A-D932-45FD-85BD-DE81C588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127" y="1828801"/>
            <a:ext cx="10515600" cy="4351338"/>
          </a:xfrm>
        </p:spPr>
        <p:txBody>
          <a:bodyPr/>
          <a:lstStyle/>
          <a:p>
            <a:r>
              <a:rPr lang="en-US" dirty="0"/>
              <a:t>In 1937, Claude Shannon discovered that Boolean functions can be implemented by electrical </a:t>
            </a:r>
            <a:r>
              <a:rPr lang="en-US" b="1" dirty="0">
                <a:solidFill>
                  <a:srgbClr val="C00000"/>
                </a:solidFill>
              </a:rPr>
              <a:t>switch circuits</a:t>
            </a:r>
            <a:r>
              <a:rPr lang="en-US" dirty="0"/>
              <a:t>.</a:t>
            </a:r>
          </a:p>
          <a:p>
            <a:r>
              <a:rPr lang="en-US" dirty="0"/>
              <a:t>A switch has two states: </a:t>
            </a:r>
            <a:r>
              <a:rPr lang="en-US" b="1" dirty="0">
                <a:solidFill>
                  <a:srgbClr val="C00000"/>
                </a:solidFill>
              </a:rPr>
              <a:t>Open</a:t>
            </a:r>
            <a:r>
              <a:rPr lang="en-US" dirty="0"/>
              <a:t> or </a:t>
            </a:r>
            <a:r>
              <a:rPr lang="en-US" b="1" dirty="0">
                <a:solidFill>
                  <a:srgbClr val="C00000"/>
                </a:solidFill>
              </a:rPr>
              <a:t>Close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F8748382-B708-427B-A690-AC6BEF26516D}"/>
                  </a:ext>
                </a:extLst>
              </p:cNvPr>
              <p:cNvSpPr txBox="1"/>
              <p:nvPr/>
            </p:nvSpPr>
            <p:spPr>
              <a:xfrm>
                <a:off x="1490404" y="3408046"/>
                <a:ext cx="163859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/>
                  <a:t>Switch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Open</a:t>
                </a:r>
              </a:p>
              <a:p>
                <a:pPr algn="ctr"/>
                <a:r>
                  <a:rPr lang="en-US" sz="2000" dirty="0">
                    <a:solidFill>
                      <a:srgbClr val="C00000"/>
                    </a:solidFill>
                  </a:rPr>
                  <a:t>Value =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F8748382-B708-427B-A690-AC6BEF265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404" y="3408046"/>
                <a:ext cx="1638590" cy="707886"/>
              </a:xfrm>
              <a:prstGeom prst="rect">
                <a:avLst/>
              </a:prstGeom>
              <a:blipFill>
                <a:blip r:embed="rId2"/>
                <a:stretch>
                  <a:fillRect l="-3717" t="-3448" r="-2974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F0ECB44-AFE0-4E1A-A636-B47920E92CBE}"/>
                  </a:ext>
                </a:extLst>
              </p:cNvPr>
              <p:cNvSpPr txBox="1"/>
              <p:nvPr/>
            </p:nvSpPr>
            <p:spPr>
              <a:xfrm>
                <a:off x="9185257" y="3408046"/>
                <a:ext cx="166904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/>
                  <a:t>Switch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Close</a:t>
                </a:r>
              </a:p>
              <a:p>
                <a:pPr algn="ctr"/>
                <a:r>
                  <a:rPr lang="en-US" altLang="zh-CN" sz="2000" dirty="0">
                    <a:solidFill>
                      <a:srgbClr val="C00000"/>
                    </a:solidFill>
                  </a:rPr>
                  <a:t>Value =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DF0ECB44-AFE0-4E1A-A636-B47920E92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5257" y="3408046"/>
                <a:ext cx="1669047" cy="707886"/>
              </a:xfrm>
              <a:prstGeom prst="rect">
                <a:avLst/>
              </a:prstGeom>
              <a:blipFill>
                <a:blip r:embed="rId3"/>
                <a:stretch>
                  <a:fillRect l="-4015" t="-3448" r="-2190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41AD709D-680F-4DA7-B876-996CC003FE9E}"/>
              </a:ext>
            </a:extLst>
          </p:cNvPr>
          <p:cNvGrpSpPr/>
          <p:nvPr/>
        </p:nvGrpSpPr>
        <p:grpSpPr>
          <a:xfrm>
            <a:off x="4060190" y="3281680"/>
            <a:ext cx="951464" cy="1197653"/>
            <a:chOff x="4060190" y="3429000"/>
            <a:chExt cx="951464" cy="1197653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1353559-90E8-4DB7-BB40-4C1164648495}"/>
                </a:ext>
              </a:extLst>
            </p:cNvPr>
            <p:cNvGrpSpPr/>
            <p:nvPr/>
          </p:nvGrpSpPr>
          <p:grpSpPr>
            <a:xfrm>
              <a:off x="4060190" y="3429000"/>
              <a:ext cx="401638" cy="303212"/>
              <a:chOff x="3222625" y="1773238"/>
              <a:chExt cx="401638" cy="303212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E577358A-E740-4487-99AB-9AC118D7C0B7}"/>
                  </a:ext>
                </a:extLst>
              </p:cNvPr>
              <p:cNvSpPr/>
              <p:nvPr/>
            </p:nvSpPr>
            <p:spPr>
              <a:xfrm>
                <a:off x="3222625" y="2025650"/>
                <a:ext cx="50800" cy="508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8312C8BC-0588-4CB1-A069-21F9682B4269}"/>
                  </a:ext>
                </a:extLst>
              </p:cNvPr>
              <p:cNvSpPr/>
              <p:nvPr/>
            </p:nvSpPr>
            <p:spPr>
              <a:xfrm>
                <a:off x="3573463" y="2025650"/>
                <a:ext cx="50800" cy="508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25CCD782-113D-4E61-9B5C-347B7C17AFA2}"/>
                  </a:ext>
                </a:extLst>
              </p:cNvPr>
              <p:cNvCxnSpPr>
                <a:stCxn id="6" idx="7"/>
              </p:cNvCxnSpPr>
              <p:nvPr/>
            </p:nvCxnSpPr>
            <p:spPr>
              <a:xfrm flipV="1">
                <a:off x="3265986" y="1773238"/>
                <a:ext cx="259851" cy="25985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9D2F347-007D-42B5-9A16-867CDC03732F}"/>
                </a:ext>
              </a:extLst>
            </p:cNvPr>
            <p:cNvGrpSpPr/>
            <p:nvPr/>
          </p:nvGrpSpPr>
          <p:grpSpPr>
            <a:xfrm>
              <a:off x="4233476" y="4293278"/>
              <a:ext cx="66675" cy="333375"/>
              <a:chOff x="6610350" y="1604963"/>
              <a:chExt cx="66675" cy="333375"/>
            </a:xfrm>
          </p:grpSpPr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E23FFC85-D1B7-4147-8358-F4878BD3A738}"/>
                  </a:ext>
                </a:extLst>
              </p:cNvPr>
              <p:cNvCxnSpPr/>
              <p:nvPr/>
            </p:nvCxnSpPr>
            <p:spPr>
              <a:xfrm>
                <a:off x="6610350" y="1604963"/>
                <a:ext cx="0" cy="3333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AF1A72BC-F421-42FA-9809-8A9CBF9CBD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7025" y="1680913"/>
                <a:ext cx="0" cy="187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连接符: 肘形 33">
              <a:extLst>
                <a:ext uri="{FF2B5EF4-FFF2-40B4-BE49-F238E27FC236}">
                  <a16:creationId xmlns:a16="http://schemas.microsoft.com/office/drawing/2014/main" id="{10DFB0A7-311F-47AF-99ED-8343E0F30689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rot="16200000" flipV="1">
              <a:off x="3770257" y="3996746"/>
              <a:ext cx="753153" cy="173286"/>
            </a:xfrm>
            <a:prstGeom prst="bentConnector4">
              <a:avLst>
                <a:gd name="adj1" fmla="val -219"/>
                <a:gd name="adj2" fmla="val 231921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连接符: 肘形 35">
              <a:extLst>
                <a:ext uri="{FF2B5EF4-FFF2-40B4-BE49-F238E27FC236}">
                  <a16:creationId xmlns:a16="http://schemas.microsoft.com/office/drawing/2014/main" id="{511F1478-1E54-4178-A2BF-519B99A14460}"/>
                </a:ext>
              </a:extLst>
            </p:cNvPr>
            <p:cNvCxnSpPr>
              <a:cxnSpLocks/>
              <a:endCxn id="7" idx="6"/>
            </p:cNvCxnSpPr>
            <p:nvPr/>
          </p:nvCxnSpPr>
          <p:spPr>
            <a:xfrm rot="5400000" flipH="1" flipV="1">
              <a:off x="4007977" y="4006115"/>
              <a:ext cx="753154" cy="154548"/>
            </a:xfrm>
            <a:prstGeom prst="bentConnector4">
              <a:avLst>
                <a:gd name="adj1" fmla="val 98"/>
                <a:gd name="adj2" fmla="val 34883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1EEDE49-6D8D-4AB9-8394-85C6F882BE53}"/>
                </a:ext>
              </a:extLst>
            </p:cNvPr>
            <p:cNvGrpSpPr/>
            <p:nvPr/>
          </p:nvGrpSpPr>
          <p:grpSpPr>
            <a:xfrm>
              <a:off x="4678278" y="3920037"/>
              <a:ext cx="333376" cy="333376"/>
              <a:chOff x="4919662" y="1743074"/>
              <a:chExt cx="333376" cy="333376"/>
            </a:xfrm>
          </p:grpSpPr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BC00CF24-E7E0-460C-848F-977FDD2F0134}"/>
                  </a:ext>
                </a:extLst>
              </p:cNvPr>
              <p:cNvSpPr/>
              <p:nvPr/>
            </p:nvSpPr>
            <p:spPr>
              <a:xfrm>
                <a:off x="4919662" y="1743074"/>
                <a:ext cx="333376" cy="33337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5D1E254A-26E1-4F54-AA59-1E9A52610906}"/>
                  </a:ext>
                </a:extLst>
              </p:cNvPr>
              <p:cNvCxnSpPr>
                <a:cxnSpLocks/>
                <a:stCxn id="13" idx="1"/>
                <a:endCxn id="13" idx="5"/>
              </p:cNvCxnSpPr>
              <p:nvPr/>
            </p:nvCxnSpPr>
            <p:spPr>
              <a:xfrm>
                <a:off x="4968484" y="1791896"/>
                <a:ext cx="235732" cy="2357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5AABC586-7499-4150-A1C7-0DB570F5FFA8}"/>
                  </a:ext>
                </a:extLst>
              </p:cNvPr>
              <p:cNvCxnSpPr>
                <a:cxnSpLocks/>
                <a:stCxn id="13" idx="7"/>
                <a:endCxn id="13" idx="3"/>
              </p:cNvCxnSpPr>
              <p:nvPr/>
            </p:nvCxnSpPr>
            <p:spPr>
              <a:xfrm flipH="1">
                <a:off x="4968484" y="1791896"/>
                <a:ext cx="235732" cy="2357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EBECEFB8-D24E-4EFD-99B8-F9CA3B4B982F}"/>
              </a:ext>
            </a:extLst>
          </p:cNvPr>
          <p:cNvGrpSpPr/>
          <p:nvPr/>
        </p:nvGrpSpPr>
        <p:grpSpPr>
          <a:xfrm>
            <a:off x="7011533" y="3521388"/>
            <a:ext cx="1152349" cy="957945"/>
            <a:chOff x="6663871" y="3668708"/>
            <a:chExt cx="1152349" cy="957945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97B704A0-027A-4033-944D-8EC031B16574}"/>
                </a:ext>
              </a:extLst>
            </p:cNvPr>
            <p:cNvGrpSpPr/>
            <p:nvPr/>
          </p:nvGrpSpPr>
          <p:grpSpPr>
            <a:xfrm>
              <a:off x="6663871" y="3668708"/>
              <a:ext cx="401638" cy="63504"/>
              <a:chOff x="3222625" y="2012946"/>
              <a:chExt cx="401638" cy="63504"/>
            </a:xfrm>
          </p:grpSpPr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57AEFE7A-3B4C-4120-B18E-7A7C2B9841BD}"/>
                  </a:ext>
                </a:extLst>
              </p:cNvPr>
              <p:cNvSpPr/>
              <p:nvPr/>
            </p:nvSpPr>
            <p:spPr>
              <a:xfrm>
                <a:off x="3222625" y="2025650"/>
                <a:ext cx="50800" cy="508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703B1162-E77E-43E0-8D34-84958338A2F4}"/>
                  </a:ext>
                </a:extLst>
              </p:cNvPr>
              <p:cNvSpPr/>
              <p:nvPr/>
            </p:nvSpPr>
            <p:spPr>
              <a:xfrm>
                <a:off x="3573463" y="2025650"/>
                <a:ext cx="50800" cy="508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8A49B380-1BE8-4595-AA26-F45EEB5C9D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8025" y="2012946"/>
                <a:ext cx="35083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5DC60956-3C05-4797-9E5A-7D07681C543E}"/>
                </a:ext>
              </a:extLst>
            </p:cNvPr>
            <p:cNvGrpSpPr/>
            <p:nvPr/>
          </p:nvGrpSpPr>
          <p:grpSpPr>
            <a:xfrm>
              <a:off x="6837157" y="4293278"/>
              <a:ext cx="66675" cy="333375"/>
              <a:chOff x="6610350" y="1604963"/>
              <a:chExt cx="66675" cy="333375"/>
            </a:xfrm>
          </p:grpSpPr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EB56D0E7-ADD1-418A-85E6-22775A135362}"/>
                  </a:ext>
                </a:extLst>
              </p:cNvPr>
              <p:cNvCxnSpPr/>
              <p:nvPr/>
            </p:nvCxnSpPr>
            <p:spPr>
              <a:xfrm>
                <a:off x="6610350" y="1604963"/>
                <a:ext cx="0" cy="3333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CBCABE8B-A6FB-4074-B20C-9D18D0F222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7025" y="1680913"/>
                <a:ext cx="0" cy="187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8" name="连接符: 肘形 97">
              <a:extLst>
                <a:ext uri="{FF2B5EF4-FFF2-40B4-BE49-F238E27FC236}">
                  <a16:creationId xmlns:a16="http://schemas.microsoft.com/office/drawing/2014/main" id="{E851E8E8-A642-4864-B168-45445C1C2C0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373938" y="3996746"/>
              <a:ext cx="753153" cy="173286"/>
            </a:xfrm>
            <a:prstGeom prst="bentConnector4">
              <a:avLst>
                <a:gd name="adj1" fmla="val -219"/>
                <a:gd name="adj2" fmla="val 231921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连接符: 肘形 98">
              <a:extLst>
                <a:ext uri="{FF2B5EF4-FFF2-40B4-BE49-F238E27FC236}">
                  <a16:creationId xmlns:a16="http://schemas.microsoft.com/office/drawing/2014/main" id="{17C5FA3A-D7CF-4565-B704-2EF2BF39282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611658" y="4006115"/>
              <a:ext cx="753154" cy="154548"/>
            </a:xfrm>
            <a:prstGeom prst="bentConnector4">
              <a:avLst>
                <a:gd name="adj1" fmla="val 98"/>
                <a:gd name="adj2" fmla="val 348837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078BF83B-31ED-4311-92CF-8E4862D8664D}"/>
                </a:ext>
              </a:extLst>
            </p:cNvPr>
            <p:cNvGrpSpPr/>
            <p:nvPr/>
          </p:nvGrpSpPr>
          <p:grpSpPr>
            <a:xfrm>
              <a:off x="7088364" y="3718421"/>
              <a:ext cx="727856" cy="727856"/>
              <a:chOff x="6311192" y="1545834"/>
              <a:chExt cx="727856" cy="727856"/>
            </a:xfrm>
          </p:grpSpPr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1A333950-12C0-43F1-BD72-397D89ED0A10}"/>
                  </a:ext>
                </a:extLst>
              </p:cNvPr>
              <p:cNvSpPr/>
              <p:nvPr/>
            </p:nvSpPr>
            <p:spPr>
              <a:xfrm>
                <a:off x="6508432" y="1743074"/>
                <a:ext cx="333376" cy="33337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D6576987-B750-420C-930C-B410D4611210}"/>
                  </a:ext>
                </a:extLst>
              </p:cNvPr>
              <p:cNvCxnSpPr>
                <a:cxnSpLocks/>
                <a:stCxn id="64" idx="1"/>
                <a:endCxn id="64" idx="5"/>
              </p:cNvCxnSpPr>
              <p:nvPr/>
            </p:nvCxnSpPr>
            <p:spPr>
              <a:xfrm>
                <a:off x="6557254" y="1791896"/>
                <a:ext cx="235732" cy="235732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430FAAAB-5C84-43F1-A39E-D7F3BA7D62BB}"/>
                  </a:ext>
                </a:extLst>
              </p:cNvPr>
              <p:cNvCxnSpPr>
                <a:cxnSpLocks/>
                <a:stCxn id="64" idx="7"/>
                <a:endCxn id="64" idx="3"/>
              </p:cNvCxnSpPr>
              <p:nvPr/>
            </p:nvCxnSpPr>
            <p:spPr>
              <a:xfrm flipH="1">
                <a:off x="6557254" y="1791896"/>
                <a:ext cx="235732" cy="235732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D0B7D2CD-A162-40CD-A61E-44F806AC2A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5120" y="1545834"/>
                <a:ext cx="0" cy="14009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CEDCFBDE-3632-4ED9-B0AA-BAA18E1D69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5120" y="2133600"/>
                <a:ext cx="0" cy="14009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A49C2FDC-B5BA-4B29-99EC-8AF1699D0EF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969003" y="1836488"/>
                <a:ext cx="0" cy="14009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AC39A805-DBE8-4BA3-8574-7AC0ACDAE27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381237" y="1836488"/>
                <a:ext cx="0" cy="14009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9CCDAEF5-63F2-46FC-B26D-361A5BE24CA8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6886572" y="1628264"/>
                <a:ext cx="0" cy="14009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1993E328-015C-40F6-9D87-DC519521527F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6463668" y="2051171"/>
                <a:ext cx="0" cy="14009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78AF8E5E-092B-4CA3-A8E4-62E26C4304FC}"/>
                  </a:ext>
                </a:extLst>
              </p:cNvPr>
              <p:cNvCxnSpPr>
                <a:cxnSpLocks/>
              </p:cNvCxnSpPr>
              <p:nvPr/>
            </p:nvCxnSpPr>
            <p:spPr>
              <a:xfrm rot="8100000">
                <a:off x="6885145" y="2051170"/>
                <a:ext cx="0" cy="14009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FDD8F3C6-6417-44A5-BF25-CEDF4770CA4E}"/>
                  </a:ext>
                </a:extLst>
              </p:cNvPr>
              <p:cNvCxnSpPr>
                <a:cxnSpLocks/>
              </p:cNvCxnSpPr>
              <p:nvPr/>
            </p:nvCxnSpPr>
            <p:spPr>
              <a:xfrm rot="8100000">
                <a:off x="6461280" y="1631360"/>
                <a:ext cx="0" cy="14009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FE8B8599-B9AC-4D7E-B0AD-F59DEE9561EB}"/>
              </a:ext>
            </a:extLst>
          </p:cNvPr>
          <p:cNvGrpSpPr/>
          <p:nvPr/>
        </p:nvGrpSpPr>
        <p:grpSpPr>
          <a:xfrm>
            <a:off x="3594100" y="4869180"/>
            <a:ext cx="1752261" cy="1197654"/>
            <a:chOff x="3594100" y="4869180"/>
            <a:chExt cx="1752261" cy="1197654"/>
          </a:xfrm>
        </p:grpSpPr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9F2C21D1-9A88-4DB3-A1A8-359E05124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4100" y="5900146"/>
              <a:ext cx="175226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EECE57E5-1EB2-4A12-848E-12F7D307A1BB}"/>
                </a:ext>
              </a:extLst>
            </p:cNvPr>
            <p:cNvGrpSpPr/>
            <p:nvPr/>
          </p:nvGrpSpPr>
          <p:grpSpPr>
            <a:xfrm>
              <a:off x="4060190" y="4869180"/>
              <a:ext cx="401638" cy="303212"/>
              <a:chOff x="3222625" y="1773238"/>
              <a:chExt cx="401638" cy="303212"/>
            </a:xfrm>
          </p:grpSpPr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7314B5C6-AC9B-4C50-89EB-94F61A4D567C}"/>
                  </a:ext>
                </a:extLst>
              </p:cNvPr>
              <p:cNvSpPr/>
              <p:nvPr/>
            </p:nvSpPr>
            <p:spPr>
              <a:xfrm>
                <a:off x="3222625" y="2025650"/>
                <a:ext cx="50800" cy="508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486074F0-C906-4D06-A2DB-38C80C75D2C9}"/>
                  </a:ext>
                </a:extLst>
              </p:cNvPr>
              <p:cNvSpPr/>
              <p:nvPr/>
            </p:nvSpPr>
            <p:spPr>
              <a:xfrm>
                <a:off x="3573463" y="2025650"/>
                <a:ext cx="50800" cy="508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9" name="直接连接符 118">
                <a:extLst>
                  <a:ext uri="{FF2B5EF4-FFF2-40B4-BE49-F238E27FC236}">
                    <a16:creationId xmlns:a16="http://schemas.microsoft.com/office/drawing/2014/main" id="{81B76669-0113-40E0-8DF1-B80FAB2C3728}"/>
                  </a:ext>
                </a:extLst>
              </p:cNvPr>
              <p:cNvCxnSpPr>
                <a:stCxn id="117" idx="7"/>
              </p:cNvCxnSpPr>
              <p:nvPr/>
            </p:nvCxnSpPr>
            <p:spPr>
              <a:xfrm flipV="1">
                <a:off x="3265986" y="1773238"/>
                <a:ext cx="259851" cy="25985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27EDDBE2-FD8C-484F-89A6-76D72B7A2067}"/>
                </a:ext>
              </a:extLst>
            </p:cNvPr>
            <p:cNvGrpSpPr/>
            <p:nvPr/>
          </p:nvGrpSpPr>
          <p:grpSpPr>
            <a:xfrm>
              <a:off x="3760005" y="4980304"/>
              <a:ext cx="66675" cy="333375"/>
              <a:chOff x="6610350" y="1604963"/>
              <a:chExt cx="66675" cy="333375"/>
            </a:xfrm>
          </p:grpSpPr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B7BCD9E9-167E-4396-A9AD-113E701A6591}"/>
                  </a:ext>
                </a:extLst>
              </p:cNvPr>
              <p:cNvCxnSpPr/>
              <p:nvPr/>
            </p:nvCxnSpPr>
            <p:spPr>
              <a:xfrm>
                <a:off x="6610350" y="1604963"/>
                <a:ext cx="0" cy="3333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>
                <a:extLst>
                  <a:ext uri="{FF2B5EF4-FFF2-40B4-BE49-F238E27FC236}">
                    <a16:creationId xmlns:a16="http://schemas.microsoft.com/office/drawing/2014/main" id="{194ACC84-46A7-49F6-A58E-D14E179CDC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7025" y="1680913"/>
                <a:ext cx="0" cy="187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F71716CA-1DBD-4CE3-84D5-51179B33B76A}"/>
                </a:ext>
              </a:extLst>
            </p:cNvPr>
            <p:cNvGrpSpPr/>
            <p:nvPr/>
          </p:nvGrpSpPr>
          <p:grpSpPr>
            <a:xfrm>
              <a:off x="4244340" y="5733458"/>
              <a:ext cx="333376" cy="333376"/>
              <a:chOff x="4919662" y="1743074"/>
              <a:chExt cx="333376" cy="333376"/>
            </a:xfrm>
          </p:grpSpPr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7D8B8C79-B7F2-471C-91E5-46D9B7634403}"/>
                  </a:ext>
                </a:extLst>
              </p:cNvPr>
              <p:cNvSpPr/>
              <p:nvPr/>
            </p:nvSpPr>
            <p:spPr>
              <a:xfrm>
                <a:off x="4919662" y="1743074"/>
                <a:ext cx="333376" cy="33337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D0146897-9FC9-410C-868E-75634A9006E3}"/>
                  </a:ext>
                </a:extLst>
              </p:cNvPr>
              <p:cNvCxnSpPr>
                <a:cxnSpLocks/>
                <a:stCxn id="112" idx="1"/>
                <a:endCxn id="112" idx="5"/>
              </p:cNvCxnSpPr>
              <p:nvPr/>
            </p:nvCxnSpPr>
            <p:spPr>
              <a:xfrm>
                <a:off x="4968484" y="1791896"/>
                <a:ext cx="235732" cy="2357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>
                <a:extLst>
                  <a:ext uri="{FF2B5EF4-FFF2-40B4-BE49-F238E27FC236}">
                    <a16:creationId xmlns:a16="http://schemas.microsoft.com/office/drawing/2014/main" id="{52FC4D21-E737-425B-8FD9-C81792BD7323}"/>
                  </a:ext>
                </a:extLst>
              </p:cNvPr>
              <p:cNvCxnSpPr>
                <a:cxnSpLocks/>
                <a:stCxn id="112" idx="7"/>
                <a:endCxn id="112" idx="3"/>
              </p:cNvCxnSpPr>
              <p:nvPr/>
            </p:nvCxnSpPr>
            <p:spPr>
              <a:xfrm flipH="1">
                <a:off x="4968484" y="1791896"/>
                <a:ext cx="235732" cy="2357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AA5E1CD0-E57F-4B68-A36C-4F628C3E0C3A}"/>
                </a:ext>
              </a:extLst>
            </p:cNvPr>
            <p:cNvGrpSpPr/>
            <p:nvPr/>
          </p:nvGrpSpPr>
          <p:grpSpPr>
            <a:xfrm>
              <a:off x="4762013" y="4869180"/>
              <a:ext cx="401638" cy="303212"/>
              <a:chOff x="3222625" y="1773238"/>
              <a:chExt cx="401638" cy="303212"/>
            </a:xfrm>
          </p:grpSpPr>
          <p:sp>
            <p:nvSpPr>
              <p:cNvPr id="121" name="椭圆 120">
                <a:extLst>
                  <a:ext uri="{FF2B5EF4-FFF2-40B4-BE49-F238E27FC236}">
                    <a16:creationId xmlns:a16="http://schemas.microsoft.com/office/drawing/2014/main" id="{650A5C21-61B5-4C47-9914-9B938B58F6EC}"/>
                  </a:ext>
                </a:extLst>
              </p:cNvPr>
              <p:cNvSpPr/>
              <p:nvPr/>
            </p:nvSpPr>
            <p:spPr>
              <a:xfrm>
                <a:off x="3222625" y="2025650"/>
                <a:ext cx="50800" cy="508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椭圆 121">
                <a:extLst>
                  <a:ext uri="{FF2B5EF4-FFF2-40B4-BE49-F238E27FC236}">
                    <a16:creationId xmlns:a16="http://schemas.microsoft.com/office/drawing/2014/main" id="{03EEB8DE-C914-4EF3-9BA7-EA75CEA5AEBC}"/>
                  </a:ext>
                </a:extLst>
              </p:cNvPr>
              <p:cNvSpPr/>
              <p:nvPr/>
            </p:nvSpPr>
            <p:spPr>
              <a:xfrm>
                <a:off x="3573463" y="2025650"/>
                <a:ext cx="50800" cy="508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7AFE07A8-2AFD-4922-986B-04119B3A14E8}"/>
                  </a:ext>
                </a:extLst>
              </p:cNvPr>
              <p:cNvCxnSpPr>
                <a:stCxn id="121" idx="7"/>
              </p:cNvCxnSpPr>
              <p:nvPr/>
            </p:nvCxnSpPr>
            <p:spPr>
              <a:xfrm flipV="1">
                <a:off x="3265986" y="1773238"/>
                <a:ext cx="259851" cy="25985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8DA60F5F-FC20-46D3-9EB2-2C5D6A9D9732}"/>
                </a:ext>
              </a:extLst>
            </p:cNvPr>
            <p:cNvCxnSpPr>
              <a:cxnSpLocks/>
              <a:stCxn id="118" idx="6"/>
              <a:endCxn id="121" idx="2"/>
            </p:cNvCxnSpPr>
            <p:nvPr/>
          </p:nvCxnSpPr>
          <p:spPr>
            <a:xfrm>
              <a:off x="4461828" y="5146992"/>
              <a:ext cx="30018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233891EE-F871-4EAE-9086-477AF261A7D4}"/>
                </a:ext>
              </a:extLst>
            </p:cNvPr>
            <p:cNvCxnSpPr>
              <a:cxnSpLocks/>
              <a:endCxn id="117" idx="2"/>
            </p:cNvCxnSpPr>
            <p:nvPr/>
          </p:nvCxnSpPr>
          <p:spPr>
            <a:xfrm>
              <a:off x="3826680" y="5146992"/>
              <a:ext cx="2335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257A9BCB-2DE9-4656-A05D-525AD3D709A4}"/>
                </a:ext>
              </a:extLst>
            </p:cNvPr>
            <p:cNvCxnSpPr>
              <a:cxnSpLocks/>
            </p:cNvCxnSpPr>
            <p:nvPr/>
          </p:nvCxnSpPr>
          <p:spPr>
            <a:xfrm>
              <a:off x="3594100" y="5146992"/>
              <a:ext cx="16590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721E62D8-806C-4A04-9DB5-46116CAAC682}"/>
                </a:ext>
              </a:extLst>
            </p:cNvPr>
            <p:cNvCxnSpPr>
              <a:cxnSpLocks/>
            </p:cNvCxnSpPr>
            <p:nvPr/>
          </p:nvCxnSpPr>
          <p:spPr>
            <a:xfrm>
              <a:off x="5163651" y="5146992"/>
              <a:ext cx="1827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8E4B08E1-1E27-4CAB-A56B-0079DF27F1BD}"/>
                </a:ext>
              </a:extLst>
            </p:cNvPr>
            <p:cNvCxnSpPr>
              <a:cxnSpLocks/>
            </p:cNvCxnSpPr>
            <p:nvPr/>
          </p:nvCxnSpPr>
          <p:spPr>
            <a:xfrm>
              <a:off x="5346361" y="5146991"/>
              <a:ext cx="0" cy="7531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C4305E34-420F-43E4-8CAF-FBC55F7D4440}"/>
                </a:ext>
              </a:extLst>
            </p:cNvPr>
            <p:cNvCxnSpPr>
              <a:cxnSpLocks/>
            </p:cNvCxnSpPr>
            <p:nvPr/>
          </p:nvCxnSpPr>
          <p:spPr>
            <a:xfrm>
              <a:off x="3594100" y="5146991"/>
              <a:ext cx="0" cy="7531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2D46DCBE-4249-43D3-9962-6B2BEF699390}"/>
                    </a:ext>
                  </a:extLst>
                </p:cNvPr>
                <p:cNvSpPr txBox="1"/>
                <p:nvPr/>
              </p:nvSpPr>
              <p:spPr>
                <a:xfrm>
                  <a:off x="4083463" y="5121592"/>
                  <a:ext cx="35759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2D46DCBE-4249-43D3-9962-6B2BEF6993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3463" y="5121592"/>
                  <a:ext cx="357597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DABFE4E2-041F-4EBD-8E3B-7039A8F30BD6}"/>
                    </a:ext>
                  </a:extLst>
                </p:cNvPr>
                <p:cNvSpPr txBox="1"/>
                <p:nvPr/>
              </p:nvSpPr>
              <p:spPr>
                <a:xfrm>
                  <a:off x="4784566" y="5121592"/>
                  <a:ext cx="36131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DABFE4E2-041F-4EBD-8E3B-7039A8F30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4566" y="5121592"/>
                  <a:ext cx="361316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864C40ED-6C2E-4501-8414-F59A44C6A0DE}"/>
              </a:ext>
            </a:extLst>
          </p:cNvPr>
          <p:cNvGrpSpPr/>
          <p:nvPr/>
        </p:nvGrpSpPr>
        <p:grpSpPr>
          <a:xfrm>
            <a:off x="6466627" y="4573242"/>
            <a:ext cx="1752261" cy="1493592"/>
            <a:chOff x="6466627" y="4573242"/>
            <a:chExt cx="1752261" cy="1493592"/>
          </a:xfrm>
        </p:grpSpPr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B525462B-AC79-4EEE-AAE5-600F453B05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66627" y="5900146"/>
              <a:ext cx="175226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1C8C2C00-3C8B-42FE-A710-C1801223FCC0}"/>
                </a:ext>
              </a:extLst>
            </p:cNvPr>
            <p:cNvGrpSpPr/>
            <p:nvPr/>
          </p:nvGrpSpPr>
          <p:grpSpPr>
            <a:xfrm>
              <a:off x="7152755" y="4638681"/>
              <a:ext cx="401638" cy="303212"/>
              <a:chOff x="3222625" y="1773238"/>
              <a:chExt cx="401638" cy="303212"/>
            </a:xfrm>
          </p:grpSpPr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1EA8A02B-B5C1-4BB2-9EF1-F2C302242235}"/>
                  </a:ext>
                </a:extLst>
              </p:cNvPr>
              <p:cNvSpPr/>
              <p:nvPr/>
            </p:nvSpPr>
            <p:spPr>
              <a:xfrm>
                <a:off x="3222625" y="2025650"/>
                <a:ext cx="50800" cy="508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82602A19-A053-4351-8FD2-2E1452B5CBF4}"/>
                  </a:ext>
                </a:extLst>
              </p:cNvPr>
              <p:cNvSpPr/>
              <p:nvPr/>
            </p:nvSpPr>
            <p:spPr>
              <a:xfrm>
                <a:off x="3573463" y="2025650"/>
                <a:ext cx="50800" cy="508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038301C4-D3D5-48C1-86CF-760A19DBA247}"/>
                  </a:ext>
                </a:extLst>
              </p:cNvPr>
              <p:cNvCxnSpPr>
                <a:stCxn id="164" idx="7"/>
              </p:cNvCxnSpPr>
              <p:nvPr/>
            </p:nvCxnSpPr>
            <p:spPr>
              <a:xfrm flipV="1">
                <a:off x="3265986" y="1773238"/>
                <a:ext cx="259851" cy="25985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2D4E1DC0-4D67-4DB8-B251-29985652A435}"/>
                </a:ext>
              </a:extLst>
            </p:cNvPr>
            <p:cNvGrpSpPr/>
            <p:nvPr/>
          </p:nvGrpSpPr>
          <p:grpSpPr>
            <a:xfrm>
              <a:off x="6632532" y="4980304"/>
              <a:ext cx="66675" cy="333375"/>
              <a:chOff x="6610350" y="1604963"/>
              <a:chExt cx="66675" cy="333375"/>
            </a:xfrm>
          </p:grpSpPr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id="{97B0C13D-2675-47F9-AE4F-40E76A6BCBBA}"/>
                  </a:ext>
                </a:extLst>
              </p:cNvPr>
              <p:cNvCxnSpPr/>
              <p:nvPr/>
            </p:nvCxnSpPr>
            <p:spPr>
              <a:xfrm>
                <a:off x="6610350" y="1604963"/>
                <a:ext cx="0" cy="3333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>
                <a:extLst>
                  <a:ext uri="{FF2B5EF4-FFF2-40B4-BE49-F238E27FC236}">
                    <a16:creationId xmlns:a16="http://schemas.microsoft.com/office/drawing/2014/main" id="{B6B282CF-50DE-43DB-9A47-8CAC2AE9C8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77025" y="1680913"/>
                <a:ext cx="0" cy="18757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91891C99-AA68-46C4-A603-AEE4522D0BF5}"/>
                </a:ext>
              </a:extLst>
            </p:cNvPr>
            <p:cNvGrpSpPr/>
            <p:nvPr/>
          </p:nvGrpSpPr>
          <p:grpSpPr>
            <a:xfrm>
              <a:off x="7116867" y="5733458"/>
              <a:ext cx="333376" cy="333376"/>
              <a:chOff x="4919662" y="1743074"/>
              <a:chExt cx="333376" cy="333376"/>
            </a:xfrm>
          </p:grpSpPr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4AB76F1B-9ACA-4DA3-A96E-8AE300704DA1}"/>
                  </a:ext>
                </a:extLst>
              </p:cNvPr>
              <p:cNvSpPr/>
              <p:nvPr/>
            </p:nvSpPr>
            <p:spPr>
              <a:xfrm>
                <a:off x="4919662" y="1743074"/>
                <a:ext cx="333376" cy="33337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2" name="直接连接符 171">
                <a:extLst>
                  <a:ext uri="{FF2B5EF4-FFF2-40B4-BE49-F238E27FC236}">
                    <a16:creationId xmlns:a16="http://schemas.microsoft.com/office/drawing/2014/main" id="{8BBF8C8E-8C37-4515-8A1F-5DC94A318EED}"/>
                  </a:ext>
                </a:extLst>
              </p:cNvPr>
              <p:cNvCxnSpPr>
                <a:cxnSpLocks/>
                <a:stCxn id="171" idx="1"/>
                <a:endCxn id="171" idx="5"/>
              </p:cNvCxnSpPr>
              <p:nvPr/>
            </p:nvCxnSpPr>
            <p:spPr>
              <a:xfrm>
                <a:off x="4968484" y="1791896"/>
                <a:ext cx="235732" cy="2357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>
                <a:extLst>
                  <a:ext uri="{FF2B5EF4-FFF2-40B4-BE49-F238E27FC236}">
                    <a16:creationId xmlns:a16="http://schemas.microsoft.com/office/drawing/2014/main" id="{09A2A5A4-878B-444B-A5C1-753641409CF0}"/>
                  </a:ext>
                </a:extLst>
              </p:cNvPr>
              <p:cNvCxnSpPr>
                <a:cxnSpLocks/>
                <a:stCxn id="171" idx="7"/>
                <a:endCxn id="171" idx="3"/>
              </p:cNvCxnSpPr>
              <p:nvPr/>
            </p:nvCxnSpPr>
            <p:spPr>
              <a:xfrm flipH="1">
                <a:off x="4968484" y="1791896"/>
                <a:ext cx="235732" cy="2357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024C781C-37CC-42CD-A494-57277C85C8B3}"/>
                </a:ext>
              </a:extLst>
            </p:cNvPr>
            <p:cNvGrpSpPr/>
            <p:nvPr/>
          </p:nvGrpSpPr>
          <p:grpSpPr>
            <a:xfrm>
              <a:off x="7152755" y="5101616"/>
              <a:ext cx="401638" cy="303212"/>
              <a:chOff x="3222625" y="1773238"/>
              <a:chExt cx="401638" cy="303212"/>
            </a:xfrm>
          </p:grpSpPr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536052EB-1E27-4EA1-9978-FC8B3E557B13}"/>
                  </a:ext>
                </a:extLst>
              </p:cNvPr>
              <p:cNvSpPr/>
              <p:nvPr/>
            </p:nvSpPr>
            <p:spPr>
              <a:xfrm>
                <a:off x="3222625" y="2025650"/>
                <a:ext cx="50800" cy="508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11DDF3F7-7E77-4098-8B45-C9FE823ECBE3}"/>
                  </a:ext>
                </a:extLst>
              </p:cNvPr>
              <p:cNvSpPr/>
              <p:nvPr/>
            </p:nvSpPr>
            <p:spPr>
              <a:xfrm>
                <a:off x="3573463" y="2025650"/>
                <a:ext cx="50800" cy="508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7" name="直接连接符 176">
                <a:extLst>
                  <a:ext uri="{FF2B5EF4-FFF2-40B4-BE49-F238E27FC236}">
                    <a16:creationId xmlns:a16="http://schemas.microsoft.com/office/drawing/2014/main" id="{E3C9809C-5BC4-46DD-B5B6-D038469C9268}"/>
                  </a:ext>
                </a:extLst>
              </p:cNvPr>
              <p:cNvCxnSpPr>
                <a:stCxn id="175" idx="7"/>
              </p:cNvCxnSpPr>
              <p:nvPr/>
            </p:nvCxnSpPr>
            <p:spPr>
              <a:xfrm flipV="1">
                <a:off x="3265986" y="1773238"/>
                <a:ext cx="259851" cy="25985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F4C4AD78-70BD-4DE8-AE8B-134F91B3B4EC}"/>
                </a:ext>
              </a:extLst>
            </p:cNvPr>
            <p:cNvCxnSpPr>
              <a:cxnSpLocks/>
              <a:endCxn id="164" idx="2"/>
            </p:cNvCxnSpPr>
            <p:nvPr/>
          </p:nvCxnSpPr>
          <p:spPr>
            <a:xfrm>
              <a:off x="6919245" y="4916493"/>
              <a:ext cx="2335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94525FD2-869A-42CC-950D-17C8E0194CC0}"/>
                </a:ext>
              </a:extLst>
            </p:cNvPr>
            <p:cNvCxnSpPr>
              <a:cxnSpLocks/>
            </p:cNvCxnSpPr>
            <p:nvPr/>
          </p:nvCxnSpPr>
          <p:spPr>
            <a:xfrm>
              <a:off x="6466627" y="5146992"/>
              <a:ext cx="16590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D670B4E5-D3AD-4CDB-8181-AF7BDBE4B4C6}"/>
                </a:ext>
              </a:extLst>
            </p:cNvPr>
            <p:cNvCxnSpPr>
              <a:cxnSpLocks/>
            </p:cNvCxnSpPr>
            <p:nvPr/>
          </p:nvCxnSpPr>
          <p:spPr>
            <a:xfrm>
              <a:off x="7786009" y="5146992"/>
              <a:ext cx="43287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1D50FE5C-D11D-4552-974E-963CB3B44FBA}"/>
                </a:ext>
              </a:extLst>
            </p:cNvPr>
            <p:cNvCxnSpPr>
              <a:cxnSpLocks/>
            </p:cNvCxnSpPr>
            <p:nvPr/>
          </p:nvCxnSpPr>
          <p:spPr>
            <a:xfrm>
              <a:off x="8218888" y="5146991"/>
              <a:ext cx="0" cy="7531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C5321825-77B1-4C5C-BA56-20DD8BDC62F0}"/>
                </a:ext>
              </a:extLst>
            </p:cNvPr>
            <p:cNvCxnSpPr>
              <a:cxnSpLocks/>
            </p:cNvCxnSpPr>
            <p:nvPr/>
          </p:nvCxnSpPr>
          <p:spPr>
            <a:xfrm>
              <a:off x="6466627" y="5146991"/>
              <a:ext cx="0" cy="7531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A97BB224-F478-4ED1-BD7D-592DE8001272}"/>
                </a:ext>
              </a:extLst>
            </p:cNvPr>
            <p:cNvCxnSpPr>
              <a:cxnSpLocks/>
            </p:cNvCxnSpPr>
            <p:nvPr/>
          </p:nvCxnSpPr>
          <p:spPr>
            <a:xfrm>
              <a:off x="6689271" y="5146793"/>
              <a:ext cx="2335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FC9BFE65-DDE9-468B-8A2A-3538542D9BDC}"/>
                </a:ext>
              </a:extLst>
            </p:cNvPr>
            <p:cNvCxnSpPr>
              <a:cxnSpLocks/>
            </p:cNvCxnSpPr>
            <p:nvPr/>
          </p:nvCxnSpPr>
          <p:spPr>
            <a:xfrm>
              <a:off x="6919245" y="5378316"/>
              <a:ext cx="2335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73001AB6-66B0-4C85-8779-65232A8A5A39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81" y="4913317"/>
              <a:ext cx="0" cy="2381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连接符 192">
              <a:extLst>
                <a:ext uri="{FF2B5EF4-FFF2-40B4-BE49-F238E27FC236}">
                  <a16:creationId xmlns:a16="http://schemas.microsoft.com/office/drawing/2014/main" id="{1A333DD4-932D-47EB-B7E9-D249E23DCD13}"/>
                </a:ext>
              </a:extLst>
            </p:cNvPr>
            <p:cNvCxnSpPr>
              <a:cxnSpLocks/>
            </p:cNvCxnSpPr>
            <p:nvPr/>
          </p:nvCxnSpPr>
          <p:spPr>
            <a:xfrm>
              <a:off x="6922781" y="5146793"/>
              <a:ext cx="0" cy="2381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E2B3D10F-2A12-4006-8971-EC26D0D2CD07}"/>
                </a:ext>
              </a:extLst>
            </p:cNvPr>
            <p:cNvCxnSpPr>
              <a:cxnSpLocks/>
            </p:cNvCxnSpPr>
            <p:nvPr/>
          </p:nvCxnSpPr>
          <p:spPr>
            <a:xfrm>
              <a:off x="7554393" y="5378316"/>
              <a:ext cx="2335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AFF495FF-70EC-4507-A158-A72D2FDD4BE9}"/>
                </a:ext>
              </a:extLst>
            </p:cNvPr>
            <p:cNvCxnSpPr>
              <a:cxnSpLocks/>
            </p:cNvCxnSpPr>
            <p:nvPr/>
          </p:nvCxnSpPr>
          <p:spPr>
            <a:xfrm>
              <a:off x="7554393" y="4916229"/>
              <a:ext cx="23351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43A12888-2E66-4291-933A-A3B8C8F63453}"/>
                </a:ext>
              </a:extLst>
            </p:cNvPr>
            <p:cNvCxnSpPr>
              <a:cxnSpLocks/>
            </p:cNvCxnSpPr>
            <p:nvPr/>
          </p:nvCxnSpPr>
          <p:spPr>
            <a:xfrm>
              <a:off x="7786009" y="4913317"/>
              <a:ext cx="0" cy="2381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EEF8C081-8E5F-4396-8349-8539C09C18CA}"/>
                </a:ext>
              </a:extLst>
            </p:cNvPr>
            <p:cNvCxnSpPr>
              <a:cxnSpLocks/>
            </p:cNvCxnSpPr>
            <p:nvPr/>
          </p:nvCxnSpPr>
          <p:spPr>
            <a:xfrm>
              <a:off x="7786009" y="5146793"/>
              <a:ext cx="0" cy="23812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AF652D6F-4877-48A5-B2B2-5734825134DB}"/>
                    </a:ext>
                  </a:extLst>
                </p:cNvPr>
                <p:cNvSpPr txBox="1"/>
                <p:nvPr/>
              </p:nvSpPr>
              <p:spPr>
                <a:xfrm>
                  <a:off x="7540342" y="4573242"/>
                  <a:ext cx="35759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AF652D6F-4877-48A5-B2B2-5734825134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0342" y="4573242"/>
                  <a:ext cx="357597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7DB277A7-3A26-454D-8EFC-E468F3A28B79}"/>
                    </a:ext>
                  </a:extLst>
                </p:cNvPr>
                <p:cNvSpPr txBox="1"/>
                <p:nvPr/>
              </p:nvSpPr>
              <p:spPr>
                <a:xfrm>
                  <a:off x="7540342" y="5344549"/>
                  <a:ext cx="36131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7DB277A7-3A26-454D-8EFC-E468F3A28B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0342" y="5344549"/>
                  <a:ext cx="361316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5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623D519F-C474-494A-AE29-872AC3FCA52C}"/>
                  </a:ext>
                </a:extLst>
              </p:cNvPr>
              <p:cNvSpPr txBox="1"/>
              <p:nvPr/>
            </p:nvSpPr>
            <p:spPr>
              <a:xfrm>
                <a:off x="984867" y="4952314"/>
                <a:ext cx="253157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The light is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on</a:t>
                </a:r>
                <a:r>
                  <a:rPr lang="en-US" altLang="zh-CN" sz="2000" dirty="0"/>
                  <a:t> if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both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are </a:t>
                </a:r>
                <a:r>
                  <a:rPr lang="en-US" sz="2000" dirty="0">
                    <a:solidFill>
                      <a:srgbClr val="C00000"/>
                    </a:solidFill>
                  </a:rPr>
                  <a:t>close</a:t>
                </a:r>
                <a:r>
                  <a:rPr lang="en-US" sz="2000" dirty="0"/>
                  <a:t>.</a:t>
                </a:r>
              </a:p>
              <a:p>
                <a:pPr algn="ctr"/>
                <a:r>
                  <a:rPr lang="en-US" altLang="zh-CN" sz="2000" dirty="0">
                    <a:solidFill>
                      <a:srgbClr val="C00000"/>
                    </a:solidFill>
                  </a:rPr>
                  <a:t>V</a:t>
                </a:r>
                <a:r>
                  <a:rPr lang="en-US" sz="2000" dirty="0">
                    <a:solidFill>
                      <a:srgbClr val="C00000"/>
                    </a:solidFill>
                  </a:rPr>
                  <a:t>alue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623D519F-C474-494A-AE29-872AC3FCA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867" y="4952314"/>
                <a:ext cx="2531575" cy="1015663"/>
              </a:xfrm>
              <a:prstGeom prst="rect">
                <a:avLst/>
              </a:prstGeom>
              <a:blipFill>
                <a:blip r:embed="rId8"/>
                <a:stretch>
                  <a:fillRect l="-2651" t="-2395" r="-2169" b="-10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FBBBE168-EEF2-42C4-90A5-34569B287C38}"/>
                  </a:ext>
                </a:extLst>
              </p:cNvPr>
              <p:cNvSpPr txBox="1"/>
              <p:nvPr/>
            </p:nvSpPr>
            <p:spPr>
              <a:xfrm>
                <a:off x="8800039" y="4952314"/>
                <a:ext cx="253157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The light is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off</a:t>
                </a:r>
                <a:r>
                  <a:rPr lang="en-US" altLang="zh-CN" sz="2000" dirty="0"/>
                  <a:t> if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both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are </a:t>
                </a:r>
                <a:r>
                  <a:rPr lang="en-US" sz="2000" dirty="0">
                    <a:solidFill>
                      <a:srgbClr val="C00000"/>
                    </a:solidFill>
                  </a:rPr>
                  <a:t>open</a:t>
                </a:r>
                <a:r>
                  <a:rPr lang="en-US" sz="2000" dirty="0"/>
                  <a:t>.</a:t>
                </a:r>
              </a:p>
              <a:p>
                <a:pPr algn="ctr"/>
                <a:r>
                  <a:rPr lang="en-US" altLang="zh-CN" sz="2000" dirty="0">
                    <a:solidFill>
                      <a:srgbClr val="C00000"/>
                    </a:solidFill>
                  </a:rPr>
                  <a:t>V</a:t>
                </a:r>
                <a:r>
                  <a:rPr lang="en-US" sz="2000" dirty="0">
                    <a:solidFill>
                      <a:srgbClr val="C00000"/>
                    </a:solidFill>
                  </a:rPr>
                  <a:t>alue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FBBBE168-EEF2-42C4-90A5-34569B287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0039" y="4952314"/>
                <a:ext cx="2531575" cy="1015663"/>
              </a:xfrm>
              <a:prstGeom prst="rect">
                <a:avLst/>
              </a:prstGeom>
              <a:blipFill>
                <a:blip r:embed="rId9"/>
                <a:stretch>
                  <a:fillRect l="-2651" t="-2395" r="-1928" b="-10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46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/>
      <p:bldP spid="20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2D00C-700F-418A-A0A3-F3BBCA06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Electronic Implementation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2CD0076-F772-4B26-A3CD-7A1DD7225D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transistor is a component which can control the state of a switch by electronic signals. </a:t>
                </a:r>
              </a:p>
              <a:p>
                <a:r>
                  <a:rPr lang="en-US" altLang="zh-CN" dirty="0"/>
                  <a:t>A complementary Metal-Oxide Semiconductor (CMOS)</a:t>
                </a:r>
                <a:r>
                  <a:rPr lang="en-US" dirty="0"/>
                  <a:t> transistor has 3 pins. The </a:t>
                </a:r>
                <a:r>
                  <a:rPr lang="en-US" b="1" dirty="0">
                    <a:solidFill>
                      <a:srgbClr val="C00000"/>
                    </a:solidFill>
                  </a:rPr>
                  <a:t>gate</a:t>
                </a:r>
                <a:r>
                  <a:rPr lang="en-US" dirty="0"/>
                  <a:t> controls electric flows from the </a:t>
                </a:r>
                <a:r>
                  <a:rPr lang="en-US" b="1" dirty="0">
                    <a:solidFill>
                      <a:srgbClr val="C00000"/>
                    </a:solidFill>
                  </a:rPr>
                  <a:t>source</a:t>
                </a:r>
                <a:r>
                  <a:rPr lang="en-US" dirty="0"/>
                  <a:t> to the </a:t>
                </a:r>
                <a:r>
                  <a:rPr lang="en-US" b="1" dirty="0">
                    <a:solidFill>
                      <a:srgbClr val="C00000"/>
                    </a:solidFill>
                  </a:rPr>
                  <a:t>drain</a:t>
                </a:r>
                <a:r>
                  <a:rPr lang="en-US" dirty="0"/>
                  <a:t>.</a:t>
                </a:r>
              </a:p>
              <a:p>
                <a:r>
                  <a:rPr lang="en-US" altLang="zh-CN" dirty="0"/>
                  <a:t>By transistor behaviors, there are two types.</a:t>
                </a:r>
              </a:p>
              <a:p>
                <a:pPr lvl="1"/>
                <a:r>
                  <a:rPr lang="en-US" dirty="0"/>
                  <a:t>N-type is </a:t>
                </a:r>
                <a:r>
                  <a:rPr lang="en-US" b="1" dirty="0">
                    <a:solidFill>
                      <a:srgbClr val="C00000"/>
                    </a:solidFill>
                  </a:rPr>
                  <a:t>open if the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>
                    <a:solidFill>
                      <a:srgbClr val="C00000"/>
                    </a:solidFill>
                  </a:rPr>
                  <a:t>gate</a:t>
                </a:r>
                <a:r>
                  <a:rPr lang="en-US" dirty="0"/>
                  <a:t> is “</a:t>
                </a:r>
                <a:r>
                  <a:rPr lang="en-US" b="1" dirty="0">
                    <a:solidFill>
                      <a:srgbClr val="C00000"/>
                    </a:solidFill>
                  </a:rPr>
                  <a:t>off</a:t>
                </a:r>
                <a:r>
                  <a:rPr lang="en-US" dirty="0"/>
                  <a:t>”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); </a:t>
                </a:r>
                <a:r>
                  <a:rPr lang="en-US" b="1" dirty="0">
                    <a:solidFill>
                      <a:srgbClr val="C00000"/>
                    </a:solidFill>
                  </a:rPr>
                  <a:t>close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d</a:t>
                </a:r>
                <a:r>
                  <a:rPr lang="en-US" b="1" dirty="0">
                    <a:solidFill>
                      <a:srgbClr val="C00000"/>
                    </a:solidFill>
                  </a:rPr>
                  <a:t> otherwise</a:t>
                </a:r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P-type is </a:t>
                </a:r>
                <a:r>
                  <a:rPr lang="en-US" b="1" dirty="0">
                    <a:solidFill>
                      <a:srgbClr val="C00000"/>
                    </a:solidFill>
                  </a:rPr>
                  <a:t>open if the gate</a:t>
                </a:r>
                <a:r>
                  <a:rPr lang="en-US" dirty="0"/>
                  <a:t> is “</a:t>
                </a:r>
                <a:r>
                  <a:rPr lang="en-US" b="1" dirty="0">
                    <a:solidFill>
                      <a:srgbClr val="C00000"/>
                    </a:solidFill>
                  </a:rPr>
                  <a:t>on</a:t>
                </a:r>
                <a:r>
                  <a:rPr lang="en-US" dirty="0"/>
                  <a:t>”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); </a:t>
                </a:r>
                <a:r>
                  <a:rPr lang="en-US" b="1" dirty="0">
                    <a:solidFill>
                      <a:srgbClr val="C00000"/>
                    </a:solidFill>
                  </a:rPr>
                  <a:t>closed otherwise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2CD0076-F772-4B26-A3CD-7A1DD7225D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A4D8ABF6-CDD9-463B-8BAD-5EDBCBF4FD83}"/>
              </a:ext>
            </a:extLst>
          </p:cNvPr>
          <p:cNvGrpSpPr/>
          <p:nvPr/>
        </p:nvGrpSpPr>
        <p:grpSpPr>
          <a:xfrm>
            <a:off x="9537654" y="5155108"/>
            <a:ext cx="1803322" cy="1138205"/>
            <a:chOff x="9144001" y="5158389"/>
            <a:chExt cx="1803322" cy="1138205"/>
          </a:xfrm>
        </p:grpSpPr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AF13222-2655-40F6-A4F3-9CB85BA3D79D}"/>
                </a:ext>
              </a:extLst>
            </p:cNvPr>
            <p:cNvSpPr txBox="1"/>
            <p:nvPr/>
          </p:nvSpPr>
          <p:spPr>
            <a:xfrm>
              <a:off x="10095808" y="5542825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P-type</a:t>
              </a:r>
              <a:endParaRPr lang="en-US" dirty="0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6011205-BC62-40C6-9474-3CD130990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1" y="5158389"/>
              <a:ext cx="815942" cy="1138205"/>
            </a:xfrm>
            <a:prstGeom prst="rect">
              <a:avLst/>
            </a:prstGeom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459AF3DC-5EBD-481A-825B-826D53D1BE86}"/>
              </a:ext>
            </a:extLst>
          </p:cNvPr>
          <p:cNvGrpSpPr/>
          <p:nvPr/>
        </p:nvGrpSpPr>
        <p:grpSpPr>
          <a:xfrm>
            <a:off x="9539036" y="3723899"/>
            <a:ext cx="1814764" cy="1155226"/>
            <a:chOff x="9145383" y="3947327"/>
            <a:chExt cx="1814764" cy="1155226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4D4FB71-0036-4C0E-84DE-C8A9F93619AA}"/>
                </a:ext>
              </a:extLst>
            </p:cNvPr>
            <p:cNvSpPr txBox="1"/>
            <p:nvPr/>
          </p:nvSpPr>
          <p:spPr>
            <a:xfrm>
              <a:off x="10095808" y="4340887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N-type</a:t>
              </a:r>
              <a:endParaRPr lang="en-US" dirty="0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7E5A777-0AC0-4637-938D-87FCCE34A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45383" y="3947327"/>
              <a:ext cx="790781" cy="11552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540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F2147E-BB21-42AF-91C0-CA8DCEC6F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Electronic Implementation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76ECF6-5580-40E9-81E3-684BDDF5C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Transistors are used as building blocks to implement Boolean operators.</a:t>
            </a:r>
          </a:p>
          <a:p>
            <a:r>
              <a:rPr lang="en-US" dirty="0"/>
              <a:t>After implementation, the operators are called </a:t>
            </a:r>
            <a:r>
              <a:rPr lang="en-US" b="1" dirty="0">
                <a:solidFill>
                  <a:srgbClr val="C00000"/>
                </a:solidFill>
              </a:rPr>
              <a:t>logical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gates</a:t>
            </a:r>
            <a:r>
              <a:rPr lang="en-US" dirty="0"/>
              <a:t>.</a:t>
            </a:r>
          </a:p>
          <a:p>
            <a:r>
              <a:rPr lang="en-US" dirty="0"/>
              <a:t>With </a:t>
            </a:r>
            <a:r>
              <a:rPr lang="en-US" b="1" dirty="0">
                <a:solidFill>
                  <a:srgbClr val="C00000"/>
                </a:solidFill>
              </a:rPr>
              <a:t>wires</a:t>
            </a:r>
            <a:r>
              <a:rPr lang="en-US" dirty="0"/>
              <a:t> (to pass information), we have </a:t>
            </a:r>
            <a:r>
              <a:rPr lang="en-US" b="1" dirty="0">
                <a:solidFill>
                  <a:srgbClr val="C00000"/>
                </a:solidFill>
              </a:rPr>
              <a:t>logical circuits</a:t>
            </a:r>
            <a:r>
              <a:rPr lang="en-US" dirty="0"/>
              <a:t>.</a:t>
            </a:r>
          </a:p>
          <a:p>
            <a:r>
              <a:rPr lang="en-US" dirty="0"/>
              <a:t>This lecture only introduces </a:t>
            </a:r>
            <a:r>
              <a:rPr lang="en-US" b="1" dirty="0">
                <a:solidFill>
                  <a:srgbClr val="C00000"/>
                </a:solidFill>
              </a:rPr>
              <a:t>NOT</a:t>
            </a:r>
            <a:r>
              <a:rPr lang="en-US" dirty="0"/>
              <a:t> gate and </a:t>
            </a:r>
            <a:r>
              <a:rPr lang="en-US" b="1" dirty="0">
                <a:solidFill>
                  <a:srgbClr val="C00000"/>
                </a:solidFill>
              </a:rPr>
              <a:t>NOR</a:t>
            </a:r>
            <a:r>
              <a:rPr lang="en-US" dirty="0"/>
              <a:t> gate (“not or”).</a:t>
            </a:r>
          </a:p>
          <a:p>
            <a:r>
              <a:rPr lang="en-US" dirty="0"/>
              <a:t>Other gates (Boolean operators) are left for labs.</a:t>
            </a:r>
          </a:p>
        </p:txBody>
      </p:sp>
    </p:spTree>
    <p:extLst>
      <p:ext uri="{BB962C8B-B14F-4D97-AF65-F5344CB8AC3E}">
        <p14:creationId xmlns:p14="http://schemas.microsoft.com/office/powerpoint/2010/main" val="231723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AC3C6-F800-4402-9D31-01A3092BE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Electronic Implementation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4B1103-E9C7-45DC-AE81-FF643307E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731" y="1825625"/>
            <a:ext cx="10515600" cy="435133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NOT</a:t>
            </a:r>
            <a:r>
              <a:rPr lang="en-US" dirty="0"/>
              <a:t> gate (</a:t>
            </a:r>
            <a:r>
              <a:rPr lang="en-US" b="1" dirty="0">
                <a:solidFill>
                  <a:srgbClr val="C00000"/>
                </a:solidFill>
              </a:rPr>
              <a:t>complement</a:t>
            </a:r>
            <a:r>
              <a:rPr lang="en-US" dirty="0"/>
              <a:t> operator)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99D50AD-2D27-4797-A7BB-9379D8789B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533346"/>
                  </p:ext>
                </p:extLst>
              </p:nvPr>
            </p:nvGraphicFramePr>
            <p:xfrm>
              <a:off x="1165692" y="2905415"/>
              <a:ext cx="1620000" cy="1095879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40199277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9343208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19724590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68351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/>
                                </m:acc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52455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499D50AD-2D27-4797-A7BB-9379D8789B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533346"/>
                  </p:ext>
                </p:extLst>
              </p:nvPr>
            </p:nvGraphicFramePr>
            <p:xfrm>
              <a:off x="1165692" y="2905415"/>
              <a:ext cx="1620000" cy="1095879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40199277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9343208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19724590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2273" t="-1124" r="-104545" b="-105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124" r="-3371" b="-1056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6835145"/>
                      </a:ext>
                    </a:extLst>
                  </a:tr>
                  <a:tr h="5558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24" t="-97826" r="-202247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2273" t="-97826" r="-104545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97826" r="-3371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2455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3F257E5B-6C90-4472-810D-ED4FECB1F1E1}"/>
              </a:ext>
            </a:extLst>
          </p:cNvPr>
          <p:cNvSpPr txBox="1"/>
          <p:nvPr/>
        </p:nvSpPr>
        <p:spPr>
          <a:xfrm>
            <a:off x="1153287" y="2443750"/>
            <a:ext cx="1644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Truth table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7E7790-37B1-40E6-AF58-7CD4A19F48A5}"/>
              </a:ext>
            </a:extLst>
          </p:cNvPr>
          <p:cNvSpPr txBox="1"/>
          <p:nvPr/>
        </p:nvSpPr>
        <p:spPr>
          <a:xfrm>
            <a:off x="3589118" y="2443750"/>
            <a:ext cx="2291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Implementation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8059CD06-2AB0-415F-9D82-5DF3BCC34D4C}"/>
                  </a:ext>
                </a:extLst>
              </p:cNvPr>
              <p:cNvSpPr txBox="1"/>
              <p:nvPr/>
            </p:nvSpPr>
            <p:spPr>
              <a:xfrm>
                <a:off x="6809356" y="2334870"/>
                <a:ext cx="188436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0" dirty="0"/>
                  <a:t>When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out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zh-CN" sz="2400" dirty="0"/>
                  <a:t>=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8059CD06-2AB0-415F-9D82-5DF3BCC34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356" y="2334870"/>
                <a:ext cx="1884362" cy="830997"/>
              </a:xfrm>
              <a:prstGeom prst="rect">
                <a:avLst/>
              </a:prstGeom>
              <a:blipFill>
                <a:blip r:embed="rId3"/>
                <a:stretch>
                  <a:fillRect l="-4854" t="-5147" r="-324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0F646215-9D03-49CB-A3B0-324F88CBEFEF}"/>
                  </a:ext>
                </a:extLst>
              </p:cNvPr>
              <p:cNvSpPr txBox="1"/>
              <p:nvPr/>
            </p:nvSpPr>
            <p:spPr>
              <a:xfrm>
                <a:off x="9502793" y="2334870"/>
                <a:ext cx="190539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0" dirty="0"/>
                  <a:t>When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out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𝑉𝐺𝐺</m:t>
                    </m:r>
                  </m:oMath>
                </a14:m>
                <a:r>
                  <a:rPr lang="en-US" sz="2400" b="0" i="0" dirty="0">
                    <a:latin typeface="+mj-lt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0F646215-9D03-49CB-A3B0-324F88CBE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793" y="2334870"/>
                <a:ext cx="1905393" cy="830997"/>
              </a:xfrm>
              <a:prstGeom prst="rect">
                <a:avLst/>
              </a:prstGeom>
              <a:blipFill>
                <a:blip r:embed="rId4"/>
                <a:stretch>
                  <a:fillRect l="-5128"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文本框 180">
            <a:extLst>
              <a:ext uri="{FF2B5EF4-FFF2-40B4-BE49-F238E27FC236}">
                <a16:creationId xmlns:a16="http://schemas.microsoft.com/office/drawing/2014/main" id="{699D3040-5047-4310-A868-391937BEC6D2}"/>
              </a:ext>
            </a:extLst>
          </p:cNvPr>
          <p:cNvSpPr txBox="1"/>
          <p:nvPr/>
        </p:nvSpPr>
        <p:spPr>
          <a:xfrm>
            <a:off x="2731995" y="5856825"/>
            <a:ext cx="4976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N-type</a:t>
            </a:r>
            <a:r>
              <a:rPr lang="en-US" altLang="zh-CN" dirty="0"/>
              <a:t> is </a:t>
            </a:r>
            <a:r>
              <a:rPr lang="en-US" altLang="zh-CN" dirty="0">
                <a:solidFill>
                  <a:srgbClr val="C00000"/>
                </a:solidFill>
              </a:rPr>
              <a:t>open</a:t>
            </a:r>
            <a:r>
              <a:rPr lang="en-US" altLang="zh-CN" dirty="0"/>
              <a:t> if </a:t>
            </a:r>
            <a:r>
              <a:rPr lang="en-US" altLang="zh-CN" dirty="0">
                <a:solidFill>
                  <a:srgbClr val="C00000"/>
                </a:solidFill>
              </a:rPr>
              <a:t>gate</a:t>
            </a:r>
            <a:r>
              <a:rPr lang="en-US" altLang="zh-CN" dirty="0"/>
              <a:t> is “</a:t>
            </a:r>
            <a:r>
              <a:rPr lang="en-US" altLang="zh-CN" dirty="0">
                <a:solidFill>
                  <a:srgbClr val="C00000"/>
                </a:solidFill>
              </a:rPr>
              <a:t>off</a:t>
            </a:r>
            <a:r>
              <a:rPr lang="en-US" altLang="zh-CN" dirty="0"/>
              <a:t>”; closed otherwise.</a:t>
            </a:r>
          </a:p>
          <a:p>
            <a:r>
              <a:rPr lang="en-US" dirty="0">
                <a:solidFill>
                  <a:srgbClr val="C00000"/>
                </a:solidFill>
              </a:rPr>
              <a:t>P-type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open</a:t>
            </a:r>
            <a:r>
              <a:rPr lang="en-US" dirty="0"/>
              <a:t> if </a:t>
            </a:r>
            <a:r>
              <a:rPr lang="en-US" dirty="0">
                <a:solidFill>
                  <a:srgbClr val="C00000"/>
                </a:solidFill>
              </a:rPr>
              <a:t>gate</a:t>
            </a:r>
            <a:r>
              <a:rPr lang="en-US" dirty="0"/>
              <a:t> is “</a:t>
            </a:r>
            <a:r>
              <a:rPr lang="en-US" dirty="0">
                <a:solidFill>
                  <a:srgbClr val="C00000"/>
                </a:solidFill>
              </a:rPr>
              <a:t>on</a:t>
            </a:r>
            <a:r>
              <a:rPr lang="en-US" dirty="0"/>
              <a:t>”; closed otherwise.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E7E371D-4BF6-4EE1-9572-E560E5BDB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71" y="3135285"/>
            <a:ext cx="2368538" cy="249486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15F3066-BA86-4E83-8735-334AE95EA4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752" y="3132094"/>
            <a:ext cx="2387371" cy="248881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A0DDAC5-B939-4EAE-B8F4-A83AA5A7A6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2484" y="3112210"/>
            <a:ext cx="2386012" cy="2514436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2E238893-9A38-4223-91BE-5528BCEDC6E0}"/>
              </a:ext>
            </a:extLst>
          </p:cNvPr>
          <p:cNvGrpSpPr/>
          <p:nvPr/>
        </p:nvGrpSpPr>
        <p:grpSpPr>
          <a:xfrm>
            <a:off x="838200" y="4696801"/>
            <a:ext cx="2274982" cy="1070494"/>
            <a:chOff x="838200" y="4696801"/>
            <a:chExt cx="2274982" cy="1070494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1532BC3-1088-4325-97C6-8FDFBB5E9402}"/>
                </a:ext>
              </a:extLst>
            </p:cNvPr>
            <p:cNvSpPr txBox="1"/>
            <p:nvPr/>
          </p:nvSpPr>
          <p:spPr>
            <a:xfrm>
              <a:off x="838200" y="4696801"/>
              <a:ext cx="22749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Logical symbol</a:t>
              </a: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22566CE3-6653-4CC8-A6CC-12A1F5446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05370" y="5158466"/>
              <a:ext cx="1940641" cy="6088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1082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  <p:bldP spid="17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AC3C6-F800-4402-9D31-01A3092BE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Electronic Implementation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4B1103-E9C7-45DC-AE81-FF643307E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731" y="1825625"/>
            <a:ext cx="10515600" cy="435133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NO</a:t>
            </a:r>
            <a:r>
              <a:rPr lang="en-US" altLang="zh-CN" b="1" dirty="0">
                <a:solidFill>
                  <a:srgbClr val="C00000"/>
                </a:solidFill>
              </a:rPr>
              <a:t>R</a:t>
            </a:r>
            <a:r>
              <a:rPr lang="en-US" dirty="0"/>
              <a:t> gate (</a:t>
            </a:r>
            <a:r>
              <a:rPr lang="en-US" b="1" dirty="0">
                <a:solidFill>
                  <a:srgbClr val="C00000"/>
                </a:solidFill>
              </a:rPr>
              <a:t>complement of </a:t>
            </a:r>
            <a:r>
              <a:rPr lang="en-US" altLang="zh-CN" b="1" dirty="0">
                <a:solidFill>
                  <a:srgbClr val="C00000"/>
                </a:solidFill>
              </a:rPr>
              <a:t>addition</a:t>
            </a:r>
            <a:r>
              <a:rPr lang="en-US" dirty="0"/>
              <a:t>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257E5B-6C90-4472-810D-ED4FECB1F1E1}"/>
              </a:ext>
            </a:extLst>
          </p:cNvPr>
          <p:cNvSpPr txBox="1"/>
          <p:nvPr/>
        </p:nvSpPr>
        <p:spPr>
          <a:xfrm>
            <a:off x="1153287" y="2443750"/>
            <a:ext cx="1644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Truth table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7E7790-37B1-40E6-AF58-7CD4A19F48A5}"/>
              </a:ext>
            </a:extLst>
          </p:cNvPr>
          <p:cNvSpPr txBox="1"/>
          <p:nvPr/>
        </p:nvSpPr>
        <p:spPr>
          <a:xfrm>
            <a:off x="3589118" y="2443750"/>
            <a:ext cx="2291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Implementation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8059CD06-2AB0-415F-9D82-5DF3BCC34D4C}"/>
                  </a:ext>
                </a:extLst>
              </p:cNvPr>
              <p:cNvSpPr txBox="1"/>
              <p:nvPr/>
            </p:nvSpPr>
            <p:spPr>
              <a:xfrm>
                <a:off x="6809356" y="2334870"/>
                <a:ext cx="45739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0" dirty="0"/>
                  <a:t>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out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id="{8059CD06-2AB0-415F-9D82-5DF3BCC34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356" y="2334870"/>
                <a:ext cx="4573944" cy="461665"/>
              </a:xfrm>
              <a:prstGeom prst="rect">
                <a:avLst/>
              </a:prstGeom>
              <a:blipFill>
                <a:blip r:embed="rId2"/>
                <a:stretch>
                  <a:fillRect l="-2000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4" name="表格 133">
                <a:extLst>
                  <a:ext uri="{FF2B5EF4-FFF2-40B4-BE49-F238E27FC236}">
                    <a16:creationId xmlns:a16="http://schemas.microsoft.com/office/drawing/2014/main" id="{FF930C98-B173-484A-B14C-4C9D8C675B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9703926"/>
                  </p:ext>
                </p:extLst>
              </p:nvPr>
            </p:nvGraphicFramePr>
            <p:xfrm>
              <a:off x="1165193" y="2903841"/>
              <a:ext cx="1620000" cy="16200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40199277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9343208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19724590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68351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3524558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97042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4" name="表格 133">
                <a:extLst>
                  <a:ext uri="{FF2B5EF4-FFF2-40B4-BE49-F238E27FC236}">
                    <a16:creationId xmlns:a16="http://schemas.microsoft.com/office/drawing/2014/main" id="{FF930C98-B173-484A-B14C-4C9D8C675B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9703926"/>
                  </p:ext>
                </p:extLst>
              </p:nvPr>
            </p:nvGraphicFramePr>
            <p:xfrm>
              <a:off x="1165193" y="2903841"/>
              <a:ext cx="1620000" cy="162000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40000">
                      <a:extLst>
                        <a:ext uri="{9D8B030D-6E8A-4147-A177-3AD203B41FA5}">
                          <a16:colId xmlns:a16="http://schemas.microsoft.com/office/drawing/2014/main" val="4019927700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993432087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119724590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24" t="-1124" r="-201124" b="-2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273" t="-1124" r="-103409" b="-2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124" r="-2247" b="-20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683514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24" t="-101124" r="-201124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273" t="-101124" r="-103409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124" r="-2247" b="-10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245585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24" t="-201124" r="-201124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273" t="-201124" r="-103409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124" r="-2247" b="-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97042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4" name="文本框 173">
            <a:extLst>
              <a:ext uri="{FF2B5EF4-FFF2-40B4-BE49-F238E27FC236}">
                <a16:creationId xmlns:a16="http://schemas.microsoft.com/office/drawing/2014/main" id="{4CA67D7F-694E-425E-A5A0-E85F30B00032}"/>
              </a:ext>
            </a:extLst>
          </p:cNvPr>
          <p:cNvSpPr txBox="1"/>
          <p:nvPr/>
        </p:nvSpPr>
        <p:spPr>
          <a:xfrm>
            <a:off x="838200" y="4696801"/>
            <a:ext cx="2274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Logical symbol</a:t>
            </a: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F1D5C5F6-8C6A-46B8-A60F-407595C4C0AE}"/>
              </a:ext>
            </a:extLst>
          </p:cNvPr>
          <p:cNvSpPr txBox="1"/>
          <p:nvPr/>
        </p:nvSpPr>
        <p:spPr>
          <a:xfrm>
            <a:off x="2731995" y="5856825"/>
            <a:ext cx="4976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N-type</a:t>
            </a:r>
            <a:r>
              <a:rPr lang="en-US" altLang="zh-CN" dirty="0"/>
              <a:t> is </a:t>
            </a:r>
            <a:r>
              <a:rPr lang="en-US" altLang="zh-CN" dirty="0">
                <a:solidFill>
                  <a:srgbClr val="C00000"/>
                </a:solidFill>
              </a:rPr>
              <a:t>open</a:t>
            </a:r>
            <a:r>
              <a:rPr lang="en-US" altLang="zh-CN" dirty="0"/>
              <a:t> if </a:t>
            </a:r>
            <a:r>
              <a:rPr lang="en-US" altLang="zh-CN" dirty="0">
                <a:solidFill>
                  <a:srgbClr val="C00000"/>
                </a:solidFill>
              </a:rPr>
              <a:t>gate</a:t>
            </a:r>
            <a:r>
              <a:rPr lang="en-US" altLang="zh-CN" dirty="0"/>
              <a:t> is “</a:t>
            </a:r>
            <a:r>
              <a:rPr lang="en-US" altLang="zh-CN" dirty="0">
                <a:solidFill>
                  <a:srgbClr val="C00000"/>
                </a:solidFill>
              </a:rPr>
              <a:t>off</a:t>
            </a:r>
            <a:r>
              <a:rPr lang="en-US" altLang="zh-CN" dirty="0"/>
              <a:t>”; closed otherwise.</a:t>
            </a:r>
          </a:p>
          <a:p>
            <a:r>
              <a:rPr lang="en-US" dirty="0">
                <a:solidFill>
                  <a:srgbClr val="C00000"/>
                </a:solidFill>
              </a:rPr>
              <a:t>P-type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open</a:t>
            </a:r>
            <a:r>
              <a:rPr lang="en-US" dirty="0"/>
              <a:t> if </a:t>
            </a:r>
            <a:r>
              <a:rPr lang="en-US" dirty="0">
                <a:solidFill>
                  <a:srgbClr val="C00000"/>
                </a:solidFill>
              </a:rPr>
              <a:t>gate</a:t>
            </a:r>
            <a:r>
              <a:rPr lang="en-US" dirty="0"/>
              <a:t> is “</a:t>
            </a:r>
            <a:r>
              <a:rPr lang="en-US" dirty="0">
                <a:solidFill>
                  <a:srgbClr val="C00000"/>
                </a:solidFill>
              </a:rPr>
              <a:t>on</a:t>
            </a:r>
            <a:r>
              <a:rPr lang="en-US" dirty="0"/>
              <a:t>”; closed otherwise.</a:t>
            </a:r>
          </a:p>
        </p:txBody>
      </p:sp>
      <p:pic>
        <p:nvPicPr>
          <p:cNvPr id="170" name="图片 169">
            <a:extLst>
              <a:ext uri="{FF2B5EF4-FFF2-40B4-BE49-F238E27FC236}">
                <a16:creationId xmlns:a16="http://schemas.microsoft.com/office/drawing/2014/main" id="{9342F7D2-F04B-4AD8-AE19-C1F5469DF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499" y="2836482"/>
            <a:ext cx="2741348" cy="30892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DD718B6-F1EA-4430-A569-4C5A5D361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436" y="2820854"/>
            <a:ext cx="2757783" cy="308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16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4963C-74B6-45D4-8B69-5C9020CA64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Lecture 02</a:t>
            </a:r>
          </a:p>
        </p:txBody>
      </p:sp>
    </p:spTree>
    <p:extLst>
      <p:ext uri="{BB962C8B-B14F-4D97-AF65-F5344CB8AC3E}">
        <p14:creationId xmlns:p14="http://schemas.microsoft.com/office/powerpoint/2010/main" val="4238584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6800</TotalTime>
  <Words>2922</Words>
  <Application>Microsoft Office PowerPoint</Application>
  <PresentationFormat>宽屏</PresentationFormat>
  <Paragraphs>578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6" baseType="lpstr">
      <vt:lpstr>黑体</vt:lpstr>
      <vt:lpstr>宋体</vt:lpstr>
      <vt:lpstr>Arial</vt:lpstr>
      <vt:lpstr>Calibri</vt:lpstr>
      <vt:lpstr>Cambria Math</vt:lpstr>
      <vt:lpstr>Office 主题​​</vt:lpstr>
      <vt:lpstr>COMP1003 Lecture 02  Boolean Algebra</vt:lpstr>
      <vt:lpstr>Table of Contents</vt:lpstr>
      <vt:lpstr>Motivation</vt:lpstr>
      <vt:lpstr>Motivation</vt:lpstr>
      <vt:lpstr>Algebra</vt:lpstr>
      <vt:lpstr>George Boole (1815 - 1864)</vt:lpstr>
      <vt:lpstr>Basics</vt:lpstr>
      <vt:lpstr>Basics</vt:lpstr>
      <vt:lpstr>Basics</vt:lpstr>
      <vt:lpstr>Example</vt:lpstr>
      <vt:lpstr>Variable</vt:lpstr>
      <vt:lpstr>Boolean functions</vt:lpstr>
      <vt:lpstr>Truth Table</vt:lpstr>
      <vt:lpstr>Truth Table</vt:lpstr>
      <vt:lpstr>Truth Table</vt:lpstr>
      <vt:lpstr>Identity</vt:lpstr>
      <vt:lpstr>Identity</vt:lpstr>
      <vt:lpstr>Simplification</vt:lpstr>
      <vt:lpstr>Simplification</vt:lpstr>
      <vt:lpstr>Simplification</vt:lpstr>
      <vt:lpstr>Simplification</vt:lpstr>
      <vt:lpstr>Simplification</vt:lpstr>
      <vt:lpstr>Simplification</vt:lpstr>
      <vt:lpstr>Logical Interpretation</vt:lpstr>
      <vt:lpstr>Information Manipulation</vt:lpstr>
      <vt:lpstr>Step 1 - Specification</vt:lpstr>
      <vt:lpstr>Step 1 - Specification</vt:lpstr>
      <vt:lpstr>Step 1 - Specification</vt:lpstr>
      <vt:lpstr>Step 1 - Specification</vt:lpstr>
      <vt:lpstr>Step 2 - To Boolean Function</vt:lpstr>
      <vt:lpstr>Step 2 - To Boolean Function</vt:lpstr>
      <vt:lpstr>Step 2 - To Boolean Function</vt:lpstr>
      <vt:lpstr>Step 2 - To Boolean Function</vt:lpstr>
      <vt:lpstr>Step 2 - To CNF</vt:lpstr>
      <vt:lpstr>Step 2 - To CNF</vt:lpstr>
      <vt:lpstr>Step 2 - To DNF</vt:lpstr>
      <vt:lpstr>Step 2 - To DNF</vt:lpstr>
      <vt:lpstr>Step 3 - Minimization</vt:lpstr>
      <vt:lpstr>Step 3 - Minimization</vt:lpstr>
      <vt:lpstr>Step 3 - Minimization</vt:lpstr>
      <vt:lpstr>Step 3 - Minimization</vt:lpstr>
      <vt:lpstr>Step 3 - Minimization</vt:lpstr>
      <vt:lpstr>Step 3 - Minimization</vt:lpstr>
      <vt:lpstr>Step 3 - Minimization</vt:lpstr>
      <vt:lpstr>Step 4 - Electronic Implementation </vt:lpstr>
      <vt:lpstr>Step 4 - Electronic Implementation </vt:lpstr>
      <vt:lpstr>Step 4 - Electronic Implementation</vt:lpstr>
      <vt:lpstr>Step 4 - Electronic Implementation</vt:lpstr>
      <vt:lpstr>Step 4 - Electronic Implementation</vt:lpstr>
      <vt:lpstr>End of Lecture 02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Goliath Li</dc:creator>
  <cp:lastModifiedBy>Goliath Li</cp:lastModifiedBy>
  <cp:revision>184</cp:revision>
  <dcterms:created xsi:type="dcterms:W3CDTF">2026-07-06T02:41:27Z</dcterms:created>
  <dcterms:modified xsi:type="dcterms:W3CDTF">2026-09-09T07:33:18Z</dcterms:modified>
</cp:coreProperties>
</file>