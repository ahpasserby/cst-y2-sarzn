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1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5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16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56601E-E5BF-4764-974E-21020FD71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 anchorCtr="0">
            <a:noAutofit/>
          </a:bodyPr>
          <a:lstStyle>
            <a:lvl1pPr algn="ctr">
              <a:defRPr sz="6000"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10BBCF-6A54-4E8B-AFF7-FFB156E91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36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23DB27-80DF-4480-84D8-4F7E3CE27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5B36B5-93E0-47D1-A69A-AF6472FC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C6AA53-F6FB-4A36-BF6E-3A284ACD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22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FCB51-5860-44E1-A7DC-53AF818AB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C06E84-36AC-4C3D-9AD5-EC5C455F7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0C9CD7-0002-45F9-B867-CD012A15B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89D3C6-B378-427D-B5E9-AA50A015D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D9238F-573F-4202-BBD4-C6915AD3A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4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E76F74-E711-432F-8CDD-6EC55AA9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562149-CA2F-445E-8E36-3A2216204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5751D8-5990-4F32-ABC4-C1F20F8CA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301F81-3A2E-4611-A301-CF8D08803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B8861C-0727-4F01-8EC4-8CBC6052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4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B6D96-DFB4-450B-82B5-6D6046B78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F00C65-7E5E-4D13-88C0-9103CECE13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CE5578-E544-478E-A647-51B99CED0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E3EE5B-97E0-4011-8A55-3FD0EEE0A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38D292-1708-442F-A551-DBBD5B7E0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9BB4A1-57C3-4DF2-AF1C-417061E35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89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CE17A2-5E8C-4D91-89CE-D96103ED3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592804-7972-4EAF-BEB8-6273AA150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146D88-42B6-45F4-BB87-F4B7ADE68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5067F0-6B5C-41DC-B8AB-48AC96B0B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E39C55-39B9-42DC-A4A8-56B014119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1C29DB-DF65-4768-B0CF-3AD07A91B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F1B0BF-F9C6-4522-B86F-C29143B5E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21D63A-2125-47FD-A3F7-2C034486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49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498E6-615F-4A64-8C1C-CA84BE02E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B640A4-D65F-4DF4-B3DE-7D66447AF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278468-56E3-415F-B8DA-15A635F26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26481F-2CA7-4996-A6EE-8555C16FD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83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361633-AA77-4C08-B8BE-988FAEEFA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39C8CF-241D-4656-B8CE-8C216F38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5E297C-FA4F-40F9-B634-11F34F31F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569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B76C12-89FA-4467-9AB3-A7A87370A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8EE5B3-43F4-47E8-AE71-51A5560D2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55CC0A-C7FF-4B14-88E8-43EC87D71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F603D0-296F-4FD8-BB6F-1FABFC477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5960B9-3EC9-48F1-8997-CBB662C2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63DFE5-4DA2-4FC6-9AA4-ACBD19B9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89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05A2DE-C19F-4774-82D6-977BE38DD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421D61-C07B-4316-BC18-305A6682B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D6375-EA77-412F-A77B-59D3365AA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184D23-9BC7-4D95-814B-788A55248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7073CA-04EC-40A6-9652-B66B8A0FA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206B21-37C1-4A16-941E-54D5CBADE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7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35AED-8132-4656-8817-219B2B5A0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23CB56-78AF-44D6-BBB6-06E1D87BD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8DE78C-8E5C-408E-8491-32A7F6C9C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2EE529-F390-437A-83BB-74ED8EF99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851072-36B0-4E62-B43F-D46DD8D9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9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7A622E-280D-4423-BB8C-341E6A1C7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A5FDE6-38F5-495D-8CA3-35820BB6B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CABBC5-ACAC-4F2C-BB83-E159F3914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AF1C66-9EFB-4BDF-9AED-9C224BB50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AFA51D-FFC4-4303-AED5-79EBC45A4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18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BB9B15-BBDC-4639-8C23-864CD2A8F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6AB489-10A2-4106-BCEC-95550888B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CBAD13-C6FD-415C-9565-151E2B98F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8C5D64-ADC8-447C-A9BF-15571194D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B512C4-ADFB-4AAD-9861-A374AB44E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78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hneemann/Digita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0C00A1-E124-4D79-8CA4-A4A6CCDCEA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COMP1003</a:t>
            </a:r>
            <a:br>
              <a:rPr lang="en-US" dirty="0"/>
            </a:br>
            <a:r>
              <a:rPr lang="en-US" dirty="0"/>
              <a:t>Lab 01 Digital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F2F4D2-6FA8-4973-BED9-3520AACE45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Goliath</a:t>
            </a:r>
          </a:p>
        </p:txBody>
      </p:sp>
    </p:spTree>
    <p:extLst>
      <p:ext uri="{BB962C8B-B14F-4D97-AF65-F5344CB8AC3E}">
        <p14:creationId xmlns:p14="http://schemas.microsoft.com/office/powerpoint/2010/main" val="370334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B00168-84D2-4E2D-9730-91854375C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 Arrangement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AE6E13-22C3-4F53-9E8C-4DEC61DB9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lab takes 1 hour every week.</a:t>
            </a:r>
          </a:p>
          <a:p>
            <a:r>
              <a:rPr lang="en-US" dirty="0"/>
              <a:t>Each lab contains examples and exercises.</a:t>
            </a:r>
          </a:p>
          <a:p>
            <a:r>
              <a:rPr lang="en-US" dirty="0"/>
              <a:t>If a student has any question about anything of this course, please feel free to ask in the lab hours.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8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B00168-84D2-4E2D-9730-91854375C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 Arrangement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AE6E13-22C3-4F53-9E8C-4DEC61DB9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lab requires a submission on iSpace. </a:t>
            </a:r>
          </a:p>
          <a:p>
            <a:r>
              <a:rPr lang="en-US" dirty="0"/>
              <a:t>Testcases will be provided. Students can verify the correctness by themselves. So, the submissions will not be marked.</a:t>
            </a:r>
          </a:p>
          <a:p>
            <a:r>
              <a:rPr lang="en-US" dirty="0"/>
              <a:t>Marks will be given, if we see submissions on iSpace. Yes, even if the submission is an empty file. </a:t>
            </a:r>
          </a:p>
          <a:p>
            <a:r>
              <a:rPr lang="en-US" b="1" dirty="0">
                <a:solidFill>
                  <a:srgbClr val="C00000"/>
                </a:solidFill>
              </a:rPr>
              <a:t>If you cheat, you cheat yourself.</a:t>
            </a:r>
          </a:p>
          <a:p>
            <a:r>
              <a:rPr lang="en-US" b="1" dirty="0">
                <a:solidFill>
                  <a:srgbClr val="C00000"/>
                </a:solidFill>
              </a:rPr>
              <a:t>But!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Exams will cover the labs, you have to study </a:t>
            </a:r>
            <a:r>
              <a:rPr lang="en-US" altLang="zh-CN" b="1" dirty="0">
                <a:solidFill>
                  <a:srgbClr val="C00000"/>
                </a:solidFill>
              </a:rPr>
              <a:t>eventually.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54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B00168-84D2-4E2D-9730-91854375C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 Arrangement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AE6E13-22C3-4F53-9E8C-4DEC61DB9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have their freedom to decide to study every week or work hard before exams.</a:t>
            </a:r>
          </a:p>
          <a:p>
            <a:r>
              <a:rPr lang="en-US" dirty="0"/>
              <a:t>Even the second option usually does not end well.</a:t>
            </a:r>
          </a:p>
          <a:p>
            <a:r>
              <a:rPr lang="en-US" dirty="0"/>
              <a:t>We are very happy to see students are </a:t>
            </a:r>
            <a:r>
              <a:rPr lang="en-US" altLang="zh-CN" dirty="0"/>
              <a:t>punished by cheating themselves. </a:t>
            </a:r>
            <a:r>
              <a:rPr lang="en-US" dirty="0"/>
              <a:t>😏</a:t>
            </a:r>
          </a:p>
          <a:p>
            <a:r>
              <a:rPr lang="en-US" dirty="0"/>
              <a:t>The teacher’s trouble is “too many good students are looking for A’s”, but not “too many bad students are failing the course”.</a:t>
            </a:r>
          </a:p>
        </p:txBody>
      </p:sp>
    </p:spTree>
    <p:extLst>
      <p:ext uri="{BB962C8B-B14F-4D97-AF65-F5344CB8AC3E}">
        <p14:creationId xmlns:p14="http://schemas.microsoft.com/office/powerpoint/2010/main" val="265604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1432B-0406-4EC3-AEDA-BF78F6A1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CE6A48-6A3F-4F58-B949-F4DC9B67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course uses </a:t>
            </a:r>
            <a:r>
              <a:rPr lang="en-US" dirty="0">
                <a:solidFill>
                  <a:srgbClr val="C00000"/>
                </a:solidFill>
                <a:hlinkClick r:id="rId2"/>
              </a:rPr>
              <a:t>Digital</a:t>
            </a:r>
            <a:r>
              <a:rPr lang="en-US" dirty="0"/>
              <a:t> for simulating circuit designs.</a:t>
            </a:r>
          </a:p>
          <a:p>
            <a:r>
              <a:rPr lang="en-US" dirty="0"/>
              <a:t>To get the simulator,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Install a Java Runtime Environment (at least JRE 8).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Download the Digital package from iSpace (or from </a:t>
            </a:r>
            <a:r>
              <a:rPr lang="en-US" dirty="0" err="1"/>
              <a:t>Github</a:t>
            </a:r>
            <a:r>
              <a:rPr lang="en-US" dirty="0"/>
              <a:t>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Start the JAR file.</a:t>
            </a:r>
          </a:p>
          <a:p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D209D44-4F5B-4D64-B95C-4C1696050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565" y="3549534"/>
            <a:ext cx="515640" cy="55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45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5C341-810C-458D-B3F0-26150AEDC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B23DBA-2541-4605-834F-FFAA25189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BB56657-BA03-445A-8E08-E78788D2649F}"/>
              </a:ext>
            </a:extLst>
          </p:cNvPr>
          <p:cNvGrpSpPr/>
          <p:nvPr/>
        </p:nvGrpSpPr>
        <p:grpSpPr>
          <a:xfrm>
            <a:off x="1750345" y="1269235"/>
            <a:ext cx="8691310" cy="4319529"/>
            <a:chOff x="649146" y="1235790"/>
            <a:chExt cx="8691310" cy="4319529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221EFB0-9955-4673-8BE5-CB49F336C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0450" y="1690688"/>
              <a:ext cx="5451099" cy="3322268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386E45C-E0DD-4CFF-8B79-59869300F45C}"/>
                </a:ext>
              </a:extLst>
            </p:cNvPr>
            <p:cNvSpPr/>
            <p:nvPr/>
          </p:nvSpPr>
          <p:spPr>
            <a:xfrm>
              <a:off x="4731391" y="2432807"/>
              <a:ext cx="4090158" cy="251669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CC2AC9B-7FDC-4F81-B574-618D7FE843E6}"/>
                </a:ext>
              </a:extLst>
            </p:cNvPr>
            <p:cNvSpPr txBox="1"/>
            <p:nvPr/>
          </p:nvSpPr>
          <p:spPr>
            <a:xfrm>
              <a:off x="4557433" y="5185987"/>
              <a:ext cx="44380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Workspace: circuit design implementation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649D8BE-1083-45DB-B2C8-14935B062022}"/>
                </a:ext>
              </a:extLst>
            </p:cNvPr>
            <p:cNvSpPr/>
            <p:nvPr/>
          </p:nvSpPr>
          <p:spPr>
            <a:xfrm>
              <a:off x="3370450" y="2432807"/>
              <a:ext cx="1360941" cy="2580149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FDCCA8C-18D1-460C-B701-6BA7E5CAC73F}"/>
                </a:ext>
              </a:extLst>
            </p:cNvPr>
            <p:cNvSpPr txBox="1"/>
            <p:nvPr/>
          </p:nvSpPr>
          <p:spPr>
            <a:xfrm>
              <a:off x="649146" y="2214367"/>
              <a:ext cx="259558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Component tree: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 list of all components,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displayed by “F5”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FE66A44-7FB9-4EAC-AA4A-17D57E88DB52}"/>
                </a:ext>
              </a:extLst>
            </p:cNvPr>
            <p:cNvSpPr/>
            <p:nvPr/>
          </p:nvSpPr>
          <p:spPr>
            <a:xfrm>
              <a:off x="6776470" y="2001194"/>
              <a:ext cx="2045079" cy="385893"/>
            </a:xfrm>
            <a:prstGeom prst="rect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880D43F-E7E2-4A77-810B-358755827E8A}"/>
                </a:ext>
              </a:extLst>
            </p:cNvPr>
            <p:cNvSpPr txBox="1"/>
            <p:nvPr/>
          </p:nvSpPr>
          <p:spPr>
            <a:xfrm>
              <a:off x="6257561" y="1235790"/>
              <a:ext cx="30828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</a:rPr>
                <a:t>Control the circuit simulation</a:t>
              </a:r>
              <a:endParaRPr lang="en-US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019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5FB12-96C0-4E1D-81C2-067DED356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6D0BBC-99D4-4217-8C05-D4CCF338D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electronic computer is made by complex circuits.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circuit</a:t>
            </a:r>
            <a:r>
              <a:rPr lang="en-US" dirty="0"/>
              <a:t> is a combination of digital </a:t>
            </a:r>
            <a:r>
              <a:rPr lang="en-US" b="1" dirty="0">
                <a:solidFill>
                  <a:srgbClr val="C00000"/>
                </a:solidFill>
              </a:rPr>
              <a:t>components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connections</a:t>
            </a:r>
            <a:r>
              <a:rPr lang="en-US" dirty="0"/>
              <a:t> among them. </a:t>
            </a:r>
          </a:p>
          <a:p>
            <a:r>
              <a:rPr lang="en-US" dirty="0"/>
              <a:t>A component manipulates the signals (a representation of information).</a:t>
            </a:r>
          </a:p>
          <a:p>
            <a:r>
              <a:rPr lang="en-US" dirty="0"/>
              <a:t>A connection passes a signal from one component to others.</a:t>
            </a:r>
          </a:p>
        </p:txBody>
      </p:sp>
    </p:spTree>
    <p:extLst>
      <p:ext uri="{BB962C8B-B14F-4D97-AF65-F5344CB8AC3E}">
        <p14:creationId xmlns:p14="http://schemas.microsoft.com/office/powerpoint/2010/main" val="403321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4CFC0-EF55-4806-B784-C9B162E56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A332904-6A81-4CA1-95A7-527E4F57AD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Place an “Input” and an “Output” to the workspace.</a:t>
                </a:r>
              </a:p>
              <a:p>
                <a:r>
                  <a:rPr lang="en-US" dirty="0"/>
                  <a:t>You can find these components under “IO” category.</a:t>
                </a:r>
              </a:p>
              <a:p>
                <a:r>
                  <a:rPr lang="en-US" dirty="0"/>
                  <a:t>To show the component tree, “View”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“Component tree view”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A332904-6A81-4CA1-95A7-527E4F57AD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1B20FC15-964D-48B4-890E-ECE0F349C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421" y="3494774"/>
            <a:ext cx="3967608" cy="28171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3162CD4-7CC7-44B7-9AD3-BE33223C5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973" y="3675604"/>
            <a:ext cx="2246255" cy="245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97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2D5EA-8AB8-45FF-B594-756B8EC04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43E3C7-3DC6-4C34-845F-40C52E6BD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“Input” component has a red dot to its right.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 is the position, where “Input” sends a signal to others.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EAB07A1-94C1-42F3-9F4F-D72CDFF89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762" y="2405190"/>
            <a:ext cx="2190476" cy="2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21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2D5EA-8AB8-45FF-B594-756B8EC04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43E3C7-3DC6-4C34-845F-40C52E6BD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“Output” component has a blue dot to its left.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 is the position, where “</a:t>
            </a:r>
            <a:r>
              <a:rPr lang="en-US" altLang="zh-CN" dirty="0"/>
              <a:t>Out</a:t>
            </a:r>
            <a:r>
              <a:rPr lang="en-US" dirty="0"/>
              <a:t>put” receives a signal from others.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0ECA34-1549-47A9-93F5-75F098261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161" y="2391161"/>
            <a:ext cx="2075678" cy="207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597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ABE7B-F8EB-4906-BE39-089C82DAB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7AB9F2-308E-46E5-9CD7-A28AA5309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 “Input” to “Output” by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Click the red dot of “Input”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Click the blue dot of “Output”</a:t>
            </a:r>
          </a:p>
          <a:p>
            <a:r>
              <a:rPr lang="en-US" dirty="0"/>
              <a:t>Click       to</a:t>
            </a:r>
            <a:r>
              <a:rPr lang="zh-CN" altLang="en-US" dirty="0"/>
              <a:t> </a:t>
            </a:r>
            <a:r>
              <a:rPr lang="en-US" altLang="zh-CN" dirty="0"/>
              <a:t>start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simulation.</a:t>
            </a:r>
          </a:p>
          <a:p>
            <a:r>
              <a:rPr lang="en-US" dirty="0"/>
              <a:t>In a simulation, the state of “Input” can be changed by clicking.</a:t>
            </a:r>
          </a:p>
          <a:p>
            <a:r>
              <a:rPr lang="en-US" dirty="0"/>
              <a:t>Observe the state of “Output”.</a:t>
            </a:r>
          </a:p>
          <a:p>
            <a:r>
              <a:rPr lang="en-US" dirty="0"/>
              <a:t>Click       to stop the simulation.</a:t>
            </a:r>
          </a:p>
          <a:p>
            <a:r>
              <a:rPr lang="en-US" dirty="0"/>
              <a:t>This circuit is not exciting. The output is same as input.</a:t>
            </a:r>
          </a:p>
          <a:p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1F06312-09AD-4B70-820A-964F00A76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840" y="3074963"/>
            <a:ext cx="431444" cy="4978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F370F8A-69EC-4AB2-AC7D-401F289DF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839" y="4721415"/>
            <a:ext cx="431445" cy="42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41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779D4-214C-491F-B36D-AC5B0219C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FB9084-5608-4644-8D3F-F2FF5B9FA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to construct the following circuit and observe the output.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circuit uses a </a:t>
            </a:r>
            <a:r>
              <a:rPr lang="en-US" b="1" dirty="0">
                <a:solidFill>
                  <a:srgbClr val="C00000"/>
                </a:solidFill>
              </a:rPr>
              <a:t>gate</a:t>
            </a:r>
            <a:r>
              <a:rPr lang="en-US" dirty="0"/>
              <a:t> to manipulate the signal.</a:t>
            </a:r>
          </a:p>
          <a:p>
            <a:r>
              <a:rPr lang="en-US" dirty="0"/>
              <a:t>More about gates will be introduced in following weeks.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494D42-7C91-4DF5-A1F3-D21BE0AC3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2570018"/>
            <a:ext cx="2641600" cy="131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55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2E81B-7351-44C3-844B-A1BF719F1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41076D-D196-4873-8757-1D6984248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a list of some basic operations in Digital.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Mouse roller </a:t>
            </a:r>
            <a:r>
              <a:rPr lang="en-US" dirty="0"/>
              <a:t>- zoom in/out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Hold right mouse button </a:t>
            </a:r>
            <a:r>
              <a:rPr lang="en-US" dirty="0"/>
              <a:t>- move the workspace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Left mouse button</a:t>
            </a:r>
            <a:r>
              <a:rPr lang="en-US" dirty="0"/>
              <a:t> - select a component or make a link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“Shift” + LMB </a:t>
            </a:r>
            <a:r>
              <a:rPr lang="en-US" dirty="0"/>
              <a:t>- select multiple components or links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“Delete” / “Backspace” </a:t>
            </a:r>
            <a:r>
              <a:rPr lang="en-US" dirty="0"/>
              <a:t>- remove the selected components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Mouse drag </a:t>
            </a:r>
            <a:r>
              <a:rPr lang="en-US" dirty="0"/>
              <a:t>- move the selected components</a:t>
            </a:r>
          </a:p>
        </p:txBody>
      </p:sp>
    </p:spTree>
    <p:extLst>
      <p:ext uri="{BB962C8B-B14F-4D97-AF65-F5344CB8AC3E}">
        <p14:creationId xmlns:p14="http://schemas.microsoft.com/office/powerpoint/2010/main" val="195864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BCC89B-FAE1-4D0D-B0D4-E6752DF69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C4AA66-98CE-4420-84F3-741DA7524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8441"/>
          </a:xfrm>
        </p:spPr>
        <p:txBody>
          <a:bodyPr>
            <a:noAutofit/>
          </a:bodyPr>
          <a:lstStyle/>
          <a:p>
            <a:r>
              <a:rPr lang="en-US" dirty="0"/>
              <a:t>Download and extract the package “lab01_material.zip”.</a:t>
            </a:r>
          </a:p>
          <a:p>
            <a:r>
              <a:rPr lang="en-US" dirty="0"/>
              <a:t>Open “W01_E3.dig” in Digital.</a:t>
            </a:r>
          </a:p>
          <a:p>
            <a:r>
              <a:rPr lang="en-US" dirty="0"/>
              <a:t>Reposition the components and connect them as follows.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Labels of the two “Output” are given by right-clicking. Also, set the data bits of “Output” to 3 bits.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E5B0D5-059C-4CFC-97FD-37EA48BDF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000" y="3353064"/>
            <a:ext cx="8080000" cy="230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069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B56220-564B-4D76-AEA8-1FD5485A8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8AB6D3-6F5C-4F6F-8A6D-1160BAB94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everything works normally, you should see the </a:t>
            </a:r>
            <a:r>
              <a:rPr lang="en-US"/>
              <a:t>following figure </a:t>
            </a:r>
            <a:r>
              <a:rPr lang="en-US" dirty="0"/>
              <a:t>when a simulation starts.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“0” is above “R0” and “4” is above “R1”.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136CEE-EF79-496F-B56F-67A238CEA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143" y="2798437"/>
            <a:ext cx="8405714" cy="240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71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CAC79-3D29-4D76-A073-23EFE4BCD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143D7-78D2-40D5-952D-5DD824EF8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0458"/>
            <a:ext cx="10515600" cy="4351338"/>
          </a:xfrm>
        </p:spPr>
        <p:txBody>
          <a:bodyPr>
            <a:noAutofit/>
          </a:bodyPr>
          <a:lstStyle/>
          <a:p>
            <a:r>
              <a:rPr lang="en-US" dirty="0"/>
              <a:t>This is a simple example of the von Neumann Architecture.</a:t>
            </a:r>
            <a:endParaRPr lang="en-US" altLang="zh-CN" dirty="0"/>
          </a:p>
          <a:p>
            <a:r>
              <a:rPr lang="en-US" altLang="zh-CN" dirty="0"/>
              <a:t>Recall the </a:t>
            </a:r>
            <a:r>
              <a:rPr lang="en-US" altLang="zh-CN" b="1" dirty="0">
                <a:solidFill>
                  <a:srgbClr val="C00000"/>
                </a:solidFill>
              </a:rPr>
              <a:t>fetch-decode-execution cycle</a:t>
            </a:r>
            <a:r>
              <a:rPr lang="en-US" altLang="zh-CN" dirty="0"/>
              <a:t>.</a:t>
            </a:r>
            <a:endParaRPr lang="en-US" dirty="0"/>
          </a:p>
          <a:p>
            <a:r>
              <a:rPr lang="en-US" dirty="0"/>
              <a:t>                (counter) </a:t>
            </a:r>
            <a:r>
              <a:rPr lang="en-US" b="1" dirty="0">
                <a:solidFill>
                  <a:srgbClr val="C00000"/>
                </a:solidFill>
              </a:rPr>
              <a:t>fetches</a:t>
            </a:r>
            <a:r>
              <a:rPr lang="en-US" dirty="0"/>
              <a:t> one instruction from         (memory).</a:t>
            </a:r>
          </a:p>
          <a:p>
            <a:endParaRPr lang="en-US" dirty="0"/>
          </a:p>
          <a:p>
            <a:r>
              <a:rPr lang="en-US" dirty="0"/>
              <a:t>           (decoder) </a:t>
            </a:r>
            <a:r>
              <a:rPr lang="en-US" b="1" dirty="0">
                <a:solidFill>
                  <a:srgbClr val="C00000"/>
                </a:solidFill>
              </a:rPr>
              <a:t>decodes</a:t>
            </a:r>
            <a:r>
              <a:rPr lang="en-US" dirty="0"/>
              <a:t> the instruction.</a:t>
            </a:r>
          </a:p>
          <a:p>
            <a:endParaRPr lang="en-US" dirty="0"/>
          </a:p>
          <a:p>
            <a:r>
              <a:rPr lang="en-US" dirty="0"/>
              <a:t>          (ALU) </a:t>
            </a:r>
            <a:r>
              <a:rPr lang="en-US" b="1" dirty="0">
                <a:solidFill>
                  <a:srgbClr val="C00000"/>
                </a:solidFill>
              </a:rPr>
              <a:t>executes</a:t>
            </a:r>
            <a:r>
              <a:rPr lang="en-US" dirty="0"/>
              <a:t> the operation on data.</a:t>
            </a:r>
          </a:p>
          <a:p>
            <a:endParaRPr lang="en-US" dirty="0"/>
          </a:p>
          <a:p>
            <a:r>
              <a:rPr lang="en-US" dirty="0"/>
              <a:t>And the result is </a:t>
            </a:r>
            <a:r>
              <a:rPr lang="en-US" b="1" dirty="0">
                <a:solidFill>
                  <a:srgbClr val="C00000"/>
                </a:solidFill>
              </a:rPr>
              <a:t>stored</a:t>
            </a:r>
            <a:r>
              <a:rPr lang="en-US" dirty="0"/>
              <a:t> in        (register).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1FF927-04F9-4A84-9C36-F7B54FED2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291" y="2857472"/>
            <a:ext cx="1351656" cy="56523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28C2921-D6D5-4D78-B851-031DF9CA2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830" y="2803932"/>
            <a:ext cx="689704" cy="67231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AAD9D09-5ED1-42F9-9718-BC138ED19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612" y="3673383"/>
            <a:ext cx="689704" cy="8396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FEE22C3-3234-48D3-BA3D-D73C077681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0058" y="4763696"/>
            <a:ext cx="753534" cy="77974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897F791-EDE0-44D9-9F07-E6CEEEB537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5599" y="5746459"/>
            <a:ext cx="583387" cy="76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75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CAC79-3D29-4D76-A073-23EFE4BCD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143D7-78D2-40D5-952D-5DD824EF8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Right click the memory         and edit data.</a:t>
            </a:r>
          </a:p>
          <a:p>
            <a:r>
              <a:rPr lang="en-US" dirty="0"/>
              <a:t>You will see at address “0x0” the value is “0xE5”.</a:t>
            </a:r>
          </a:p>
          <a:p>
            <a:r>
              <a:rPr lang="en-US" dirty="0"/>
              <a:t>“0xE5” is a </a:t>
            </a:r>
            <a:r>
              <a:rPr lang="en-US" altLang="zh-CN" dirty="0"/>
              <a:t>hexadecimal number. Its binary is </a:t>
            </a:r>
          </a:p>
          <a:p>
            <a:pPr marL="0" indent="0" algn="ctr">
              <a:buNone/>
            </a:pP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en-US" altLang="zh-CN" dirty="0">
                <a:solidFill>
                  <a:srgbClr val="00B0F0"/>
                </a:solidFill>
              </a:rPr>
              <a:t>110</a:t>
            </a:r>
            <a:r>
              <a:rPr lang="en-US" altLang="zh-CN" dirty="0">
                <a:solidFill>
                  <a:srgbClr val="7030A0"/>
                </a:solidFill>
              </a:rPr>
              <a:t>010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  <a:p>
            <a:r>
              <a:rPr lang="en-US" dirty="0"/>
              <a:t>meaning that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operation 1</a:t>
            </a:r>
            <a:r>
              <a:rPr lang="en-US" dirty="0"/>
              <a:t> is subtraction,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110</a:t>
            </a:r>
            <a:r>
              <a:rPr lang="en-US" dirty="0"/>
              <a:t> (number 6 in decimal) is the first operand,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010</a:t>
            </a:r>
            <a:r>
              <a:rPr lang="en-US" dirty="0"/>
              <a:t> (number 2 in decimal) is the second operand, and</a:t>
            </a:r>
          </a:p>
          <a:p>
            <a:pPr lvl="1"/>
            <a:r>
              <a:rPr lang="en-US" dirty="0"/>
              <a:t>the result is stored at register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dirty="0"/>
              <a:t>.</a:t>
            </a:r>
          </a:p>
          <a:p>
            <a:r>
              <a:rPr lang="en-US" dirty="0"/>
              <a:t>That’s why you see “4” above “R1”.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C2C901A-7512-47CC-AFF2-7EC052298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615" y="1657845"/>
            <a:ext cx="689704" cy="67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541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CAC79-3D29-4D76-A073-23EFE4BCD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143D7-78D2-40D5-952D-5DD824EF8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The ALU can do two operations.</a:t>
            </a:r>
          </a:p>
          <a:p>
            <a:pPr lvl="1"/>
            <a:r>
              <a:rPr lang="en-US" dirty="0"/>
              <a:t>If the operation code is “0”, ALU does addition.</a:t>
            </a:r>
          </a:p>
          <a:p>
            <a:pPr lvl="1"/>
            <a:r>
              <a:rPr lang="en-US" dirty="0"/>
              <a:t>If the operation code is “1”, ALU does subtraction.</a:t>
            </a:r>
          </a:p>
          <a:p>
            <a:r>
              <a:rPr lang="en-US" dirty="0"/>
              <a:t>The register has two locations.</a:t>
            </a:r>
          </a:p>
          <a:p>
            <a:endParaRPr lang="en-US" dirty="0"/>
          </a:p>
          <a:p>
            <a:r>
              <a:rPr lang="en-US" dirty="0"/>
              <a:t>Thus, write “0</a:t>
            </a:r>
            <a:r>
              <a:rPr lang="en-US" altLang="zh-CN" dirty="0"/>
              <a:t>x44</a:t>
            </a:r>
            <a:r>
              <a:rPr lang="en-US" dirty="0"/>
              <a:t>” at address “0x0” in the memory and observe the outcome.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773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CAC79-3D29-4D76-A073-23EFE4BCD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143D7-78D2-40D5-952D-5DD824EF8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You should see “6” above “R0”.</a:t>
            </a:r>
          </a:p>
          <a:p>
            <a:r>
              <a:rPr lang="en-US" dirty="0"/>
              <a:t>This encoding is only designed for this example.</a:t>
            </a:r>
          </a:p>
          <a:p>
            <a:r>
              <a:rPr lang="en-US" dirty="0"/>
              <a:t>Different CPU architectures have different instruction sets.</a:t>
            </a:r>
          </a:p>
          <a:p>
            <a:r>
              <a:rPr lang="en-US" dirty="0"/>
              <a:t>Please </a:t>
            </a:r>
            <a:r>
              <a:rPr lang="en-US" b="1" dirty="0">
                <a:solidFill>
                  <a:srgbClr val="C00000"/>
                </a:solidFill>
              </a:rPr>
              <a:t>don’t worry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if you cannot understand the binary numbers, hexadecimal numbers, instruction codes, or the circuits. Details will be introduced in the following weeks.</a:t>
            </a:r>
          </a:p>
        </p:txBody>
      </p:sp>
    </p:spTree>
    <p:extLst>
      <p:ext uri="{BB962C8B-B14F-4D97-AF65-F5344CB8AC3E}">
        <p14:creationId xmlns:p14="http://schemas.microsoft.com/office/powerpoint/2010/main" val="1435055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32B38-DC84-4B63-A612-482185DE5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Submission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4F23BA-3F37-41CE-B515-DBFAB7700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Save the circuit for Example 3 as the name “</a:t>
            </a:r>
            <a:r>
              <a:rPr lang="en-US" b="1" dirty="0">
                <a:solidFill>
                  <a:srgbClr val="C00000"/>
                </a:solidFill>
              </a:rPr>
              <a:t>lab01_sub.dig</a:t>
            </a:r>
            <a:r>
              <a:rPr lang="en-US" dirty="0"/>
              <a:t>”.</a:t>
            </a:r>
          </a:p>
          <a:p>
            <a:r>
              <a:rPr lang="en-US" dirty="0"/>
              <a:t>Submit this file to iSpace.</a:t>
            </a:r>
          </a:p>
          <a:p>
            <a:r>
              <a:rPr lang="en-US" dirty="0"/>
              <a:t>No marks will be given if the file name is wrong.</a:t>
            </a:r>
          </a:p>
        </p:txBody>
      </p:sp>
    </p:spTree>
    <p:extLst>
      <p:ext uri="{BB962C8B-B14F-4D97-AF65-F5344CB8AC3E}">
        <p14:creationId xmlns:p14="http://schemas.microsoft.com/office/powerpoint/2010/main" val="1132976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4963C-74B6-45D4-8B69-5C9020CA64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L</a:t>
            </a:r>
            <a:r>
              <a:rPr lang="en-US" altLang="zh-CN" dirty="0"/>
              <a:t>ab</a:t>
            </a:r>
            <a:r>
              <a:rPr lang="en-US" dirty="0"/>
              <a:t> 01</a:t>
            </a:r>
          </a:p>
        </p:txBody>
      </p:sp>
    </p:spTree>
    <p:extLst>
      <p:ext uri="{BB962C8B-B14F-4D97-AF65-F5344CB8AC3E}">
        <p14:creationId xmlns:p14="http://schemas.microsoft.com/office/powerpoint/2010/main" val="4238584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3318</TotalTime>
  <Words>969</Words>
  <Application>Microsoft Office PowerPoint</Application>
  <PresentationFormat>宽屏</PresentationFormat>
  <Paragraphs>133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黑体</vt:lpstr>
      <vt:lpstr>Arial</vt:lpstr>
      <vt:lpstr>Cambria Math</vt:lpstr>
      <vt:lpstr>Office 主题​​</vt:lpstr>
      <vt:lpstr>COMP1003 Lab 01 Digital</vt:lpstr>
      <vt:lpstr>Lab Arrangement</vt:lpstr>
      <vt:lpstr>Lab Arrangement</vt:lpstr>
      <vt:lpstr>Lab Arrangement</vt:lpstr>
      <vt:lpstr>Digital</vt:lpstr>
      <vt:lpstr>Digital</vt:lpstr>
      <vt:lpstr>Getting Start</vt:lpstr>
      <vt:lpstr>Example 1</vt:lpstr>
      <vt:lpstr>Example 1</vt:lpstr>
      <vt:lpstr>Example 1</vt:lpstr>
      <vt:lpstr>Example 1</vt:lpstr>
      <vt:lpstr>Example 2</vt:lpstr>
      <vt:lpstr>Example 2</vt:lpstr>
      <vt:lpstr>Example 3</vt:lpstr>
      <vt:lpstr>Example 3</vt:lpstr>
      <vt:lpstr>Example 3</vt:lpstr>
      <vt:lpstr>Example 3</vt:lpstr>
      <vt:lpstr>Example 3</vt:lpstr>
      <vt:lpstr>Example 3</vt:lpstr>
      <vt:lpstr>Submission</vt:lpstr>
      <vt:lpstr>End of Lab 01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Goliath Li</dc:creator>
  <cp:lastModifiedBy>Goliath Li</cp:lastModifiedBy>
  <cp:revision>119</cp:revision>
  <dcterms:created xsi:type="dcterms:W3CDTF">2026-07-06T02:41:27Z</dcterms:created>
  <dcterms:modified xsi:type="dcterms:W3CDTF">2026-09-09T04:45:24Z</dcterms:modified>
</cp:coreProperties>
</file>