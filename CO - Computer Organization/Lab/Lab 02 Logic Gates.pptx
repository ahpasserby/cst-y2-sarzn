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0" r:id="rId3"/>
    <p:sldId id="331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1" r:id="rId13"/>
    <p:sldId id="342" r:id="rId14"/>
    <p:sldId id="340" r:id="rId15"/>
    <p:sldId id="329" r:id="rId16"/>
    <p:sldId id="31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1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6601E-E5BF-4764-974E-21020FD71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 anchorCtr="0">
            <a:noAutofit/>
          </a:bodyPr>
          <a:lstStyle>
            <a:lvl1pPr algn="ctr">
              <a:defRPr sz="6000"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10BBCF-6A54-4E8B-AFF7-FFB156E9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23DB27-80DF-4480-84D8-4F7E3CE2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5B36B5-93E0-47D1-A69A-AF6472FC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C6AA53-F6FB-4A36-BF6E-3A284ACD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2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FCB51-5860-44E1-A7DC-53AF818A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C06E84-36AC-4C3D-9AD5-EC5C455F7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0C9CD7-0002-45F9-B867-CD012A15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89D3C6-B378-427D-B5E9-AA50A015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D9238F-573F-4202-BBD4-C6915AD3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4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E76F74-E711-432F-8CDD-6EC55AA9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562149-CA2F-445E-8E36-3A2216204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5751D8-5990-4F32-ABC4-C1F20F8C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01F81-3A2E-4611-A301-CF8D0880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8861C-0727-4F01-8EC4-8CBC6052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B6D96-DFB4-450B-82B5-6D6046B7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F00C65-7E5E-4D13-88C0-9103CECE1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CE5578-E544-478E-A647-51B99CED0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E3EE5B-97E0-4011-8A55-3FD0EEE0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38D292-1708-442F-A551-DBBD5B7E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9BB4A1-57C3-4DF2-AF1C-417061E3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8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CE17A2-5E8C-4D91-89CE-D96103ED3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592804-7972-4EAF-BEB8-6273AA150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146D88-42B6-45F4-BB87-F4B7ADE68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5067F0-6B5C-41DC-B8AB-48AC96B0B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E39C55-39B9-42DC-A4A8-56B014119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1C29DB-DF65-4768-B0CF-3AD07A91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F1B0BF-F9C6-4522-B86F-C29143B5E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21D63A-2125-47FD-A3F7-2C034486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9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498E6-615F-4A64-8C1C-CA84BE02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B640A4-D65F-4DF4-B3DE-7D66447A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278468-56E3-415F-B8DA-15A635F2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26481F-2CA7-4996-A6EE-8555C16F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8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361633-AA77-4C08-B8BE-988FAEEF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39C8CF-241D-4656-B8CE-8C216F38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E297C-FA4F-40F9-B634-11F34F31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6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B76C12-89FA-4467-9AB3-A7A87370A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8EE5B3-43F4-47E8-AE71-51A5560D2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55CC0A-C7FF-4B14-88E8-43EC87D71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F603D0-296F-4FD8-BB6F-1FABFC47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5960B9-3EC9-48F1-8997-CBB662C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63DFE5-4DA2-4FC6-9AA4-ACBD19B9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8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5A2DE-C19F-4774-82D6-977BE38DD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421D61-C07B-4316-BC18-305A6682B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D6375-EA77-412F-A77B-59D3365AA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184D23-9BC7-4D95-814B-788A5524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7073CA-04EC-40A6-9652-B66B8A0FA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206B21-37C1-4A16-941E-54D5CBAD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35AED-8132-4656-8817-219B2B5A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23CB56-78AF-44D6-BBB6-06E1D87B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8DE78C-8E5C-408E-8491-32A7F6C9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2EE529-F390-437A-83BB-74ED8EF9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851072-36B0-4E62-B43F-D46DD8D9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9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7A622E-280D-4423-BB8C-341E6A1C7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A5FDE6-38F5-495D-8CA3-35820BB6B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ABBC5-ACAC-4F2C-BB83-E159F391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F1C66-9EFB-4BDF-9AED-9C224BB50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AFA51D-FFC4-4303-AED5-79EBC45A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18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BB9B15-BBDC-4639-8C23-864CD2A8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6AB489-10A2-4106-BCEC-95550888B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CBAD13-C6FD-415C-9565-151E2B98F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8C5D64-ADC8-447C-A9BF-15571194D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B512C4-ADFB-4AAD-9861-A374AB44E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7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C00A1-E124-4D79-8CA4-A4A6CCDCE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COMP1003</a:t>
            </a:r>
            <a:br>
              <a:rPr lang="en-US" dirty="0"/>
            </a:br>
            <a:r>
              <a:rPr lang="en-US" dirty="0"/>
              <a:t>Lab 02 Logic Gate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F2F4D2-6FA8-4973-BED9-3520AACE45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Goliath</a:t>
            </a:r>
          </a:p>
        </p:txBody>
      </p:sp>
    </p:spTree>
    <p:extLst>
      <p:ext uri="{BB962C8B-B14F-4D97-AF65-F5344CB8AC3E}">
        <p14:creationId xmlns:p14="http://schemas.microsoft.com/office/powerpoint/2010/main" val="370334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E9AD-9C55-41AC-BAA6-787505D2F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88625-5433-48E3-9846-C1AA81E39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 02 has introduced the </a:t>
            </a:r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dirty="0"/>
              <a:t> gate and the </a:t>
            </a:r>
            <a:r>
              <a:rPr lang="en-US" b="1" dirty="0">
                <a:solidFill>
                  <a:srgbClr val="C00000"/>
                </a:solidFill>
              </a:rPr>
              <a:t>NOR</a:t>
            </a:r>
            <a:r>
              <a:rPr lang="en-US" dirty="0"/>
              <a:t> gate.</a:t>
            </a:r>
          </a:p>
          <a:p>
            <a:r>
              <a:rPr lang="en-US" dirty="0"/>
              <a:t>In this lab, all other gates are implemented by these two.</a:t>
            </a:r>
          </a:p>
          <a:p>
            <a:r>
              <a:rPr lang="en-US" dirty="0"/>
              <a:t>First, please </a:t>
            </a:r>
            <a:r>
              <a:rPr lang="en-US" b="1" dirty="0">
                <a:solidFill>
                  <a:srgbClr val="C00000"/>
                </a:solidFill>
              </a:rPr>
              <a:t>observe</a:t>
            </a:r>
            <a:r>
              <a:rPr lang="en-US" dirty="0"/>
              <a:t> the behavior of </a:t>
            </a:r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NOR</a:t>
            </a:r>
            <a:r>
              <a:rPr lang="en-US" dirty="0"/>
              <a:t> in Digital.</a:t>
            </a:r>
          </a:p>
          <a:p>
            <a:r>
              <a:rPr lang="en-US" dirty="0"/>
              <a:t>You can find these two components under “Logic” category.</a:t>
            </a:r>
          </a:p>
          <a:p>
            <a:r>
              <a:rPr lang="en-US" dirty="0"/>
              <a:t>Please remember to place “Input” and “Output” components in your circuits. </a:t>
            </a:r>
          </a:p>
        </p:txBody>
      </p:sp>
    </p:spTree>
    <p:extLst>
      <p:ext uri="{BB962C8B-B14F-4D97-AF65-F5344CB8AC3E}">
        <p14:creationId xmlns:p14="http://schemas.microsoft.com/office/powerpoint/2010/main" val="184266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E9AD-9C55-41AC-BAA6-787505D2F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88625-5433-48E3-9846-C1AA81E39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66D6BA-ACA5-4675-A8A6-04BB91C6E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104" y="2415558"/>
            <a:ext cx="4324703" cy="14115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DEA977-C374-4A9B-A383-B9BB8BBF5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732" y="4591864"/>
            <a:ext cx="3653445" cy="104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974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E9AD-9C55-41AC-BAA6-787505D2F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88625-5433-48E3-9846-C1AA81E39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an OR gate by using NOT and NOR.</a:t>
            </a:r>
          </a:p>
          <a:p>
            <a:r>
              <a:rPr lang="en-US" dirty="0"/>
              <a:t>Inputs and the output are given as follows.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9ADAB1-DE23-4240-B131-500368D62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959" y="3008290"/>
            <a:ext cx="4922081" cy="155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44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BE9AD-9C55-41AC-BAA6-787505D2F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88625-5433-48E3-9846-C1AA81E39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 following implementation correct? How do you know?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Of course one can start a simulation and play with the inputs.</a:t>
            </a:r>
          </a:p>
          <a:p>
            <a:r>
              <a:rPr lang="en-US" dirty="0"/>
              <a:t>But that is not efficient.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020194-9F12-44DA-A111-CD39C7915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959" y="2354365"/>
            <a:ext cx="4922081" cy="155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4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F8E61-94F0-4F81-94C9-566F666E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C9E115-6054-4FDC-B9C7-1270B2BEAC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test the circuit efficiently, add a “Test” component.</a:t>
                </a:r>
              </a:p>
              <a:p>
                <a:r>
                  <a:rPr lang="en-US" altLang="zh-CN" dirty="0"/>
                  <a:t>Right-click “Test”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“Edit”. Type in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Then, “Simulation”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“Run tests”. </a:t>
                </a:r>
              </a:p>
              <a:p>
                <a:r>
                  <a:rPr lang="en-US" dirty="0"/>
                  <a:t>You should see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C9E115-6054-4FDC-B9C7-1270B2BEAC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7CFA355A-7716-40AD-882B-7D13B3E11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950" y="1825625"/>
            <a:ext cx="1628645" cy="5016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EC54F5B-2D54-4D07-8945-AF73C55966A9}"/>
              </a:ext>
            </a:extLst>
          </p:cNvPr>
          <p:cNvSpPr txBox="1"/>
          <p:nvPr/>
        </p:nvSpPr>
        <p:spPr>
          <a:xfrm>
            <a:off x="4897595" y="2790825"/>
            <a:ext cx="23968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	y	</a:t>
            </a:r>
            <a:r>
              <a:rPr lang="en-US" dirty="0" err="1"/>
              <a:t>x+y</a:t>
            </a:r>
            <a:endParaRPr lang="en-US" dirty="0"/>
          </a:p>
          <a:p>
            <a:r>
              <a:rPr lang="en-US" dirty="0"/>
              <a:t>0	0	0</a:t>
            </a:r>
          </a:p>
          <a:p>
            <a:r>
              <a:rPr lang="en-US" dirty="0"/>
              <a:t>0	1	1</a:t>
            </a:r>
          </a:p>
          <a:p>
            <a:r>
              <a:rPr lang="en-US" dirty="0"/>
              <a:t>1	0	1</a:t>
            </a:r>
          </a:p>
          <a:p>
            <a:r>
              <a:rPr lang="en-US" dirty="0"/>
              <a:t>1	1	1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41369A-8AEE-4439-9B0D-49B4DE9E5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007" y="4862330"/>
            <a:ext cx="3437985" cy="144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6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B3388-B354-485D-854B-6B45BCFF1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59755ED-B789-4DD7-865E-8E7D68D592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C00000"/>
                    </a:solidFill>
                  </a:rPr>
                  <a:t>AND</a:t>
                </a:r>
                <a:r>
                  <a:rPr lang="en-US" dirty="0"/>
                  <a:t> gate is the Boolean operator </a:t>
                </a:r>
                <a:r>
                  <a:rPr lang="en-US" b="1" dirty="0">
                    <a:solidFill>
                      <a:srgbClr val="C00000"/>
                    </a:solidFill>
                  </a:rPr>
                  <a:t>multiplication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Implement AND by NOT and NOR.</a:t>
                </a:r>
              </a:p>
              <a:p>
                <a:r>
                  <a:rPr lang="en-US" dirty="0"/>
                  <a:t>The test case should be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Hint: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59755ED-B789-4DD7-865E-8E7D68D59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C8415565-1FA7-4068-8BC0-8284FDC9D8C7}"/>
              </a:ext>
            </a:extLst>
          </p:cNvPr>
          <p:cNvSpPr txBox="1"/>
          <p:nvPr/>
        </p:nvSpPr>
        <p:spPr>
          <a:xfrm>
            <a:off x="4897595" y="3262630"/>
            <a:ext cx="23968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	y	x</a:t>
            </a:r>
            <a:r>
              <a:rPr lang="zh-CN" altLang="en-US" dirty="0"/>
              <a:t>*</a:t>
            </a:r>
            <a:r>
              <a:rPr lang="en-US" dirty="0"/>
              <a:t>y</a:t>
            </a:r>
          </a:p>
          <a:p>
            <a:r>
              <a:rPr lang="en-US" dirty="0"/>
              <a:t>0	0	0</a:t>
            </a:r>
          </a:p>
          <a:p>
            <a:r>
              <a:rPr lang="en-US" dirty="0"/>
              <a:t>0	1	0</a:t>
            </a:r>
          </a:p>
          <a:p>
            <a:r>
              <a:rPr lang="en-US" dirty="0"/>
              <a:t>1	0	0</a:t>
            </a:r>
          </a:p>
          <a:p>
            <a:r>
              <a:rPr lang="en-US" dirty="0"/>
              <a:t>1	1	1</a:t>
            </a:r>
          </a:p>
        </p:txBody>
      </p:sp>
    </p:spTree>
    <p:extLst>
      <p:ext uri="{BB962C8B-B14F-4D97-AF65-F5344CB8AC3E}">
        <p14:creationId xmlns:p14="http://schemas.microsoft.com/office/powerpoint/2010/main" val="271646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B3388-B354-485D-854B-6B45BCFF1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755ED-B789-4DD7-865E-8E7D68D59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2848BD-681F-41D3-A6B0-500E99DB1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959" y="2651013"/>
            <a:ext cx="4922082" cy="155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386D6-061C-4BFF-8682-CCA7FD30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64EAC0-CBA2-4F85-8D02-16DD85385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Once OR and </a:t>
            </a:r>
            <a:r>
              <a:rPr lang="en-US" dirty="0" err="1"/>
              <a:t>AND</a:t>
            </a:r>
            <a:r>
              <a:rPr lang="en-US" dirty="0"/>
              <a:t> are implemented, you are allowed to use them in the following examples.</a:t>
            </a:r>
          </a:p>
          <a:p>
            <a:endParaRPr lang="en-US" dirty="0"/>
          </a:p>
          <a:p>
            <a:r>
              <a:rPr lang="en-US" dirty="0"/>
              <a:t>OR gate: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gate: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3727C0A-861D-47A3-8D32-8CEA58B56A39}"/>
              </a:ext>
            </a:extLst>
          </p:cNvPr>
          <p:cNvGrpSpPr/>
          <p:nvPr/>
        </p:nvGrpSpPr>
        <p:grpSpPr>
          <a:xfrm>
            <a:off x="5081156" y="3647866"/>
            <a:ext cx="2029688" cy="1028108"/>
            <a:chOff x="5081156" y="3647866"/>
            <a:chExt cx="2029688" cy="1028108"/>
          </a:xfrm>
        </p:grpSpPr>
        <p:grpSp>
          <p:nvGrpSpPr>
            <p:cNvPr id="5" name="Group 30">
              <a:extLst>
                <a:ext uri="{FF2B5EF4-FFF2-40B4-BE49-F238E27FC236}">
                  <a16:creationId xmlns:a16="http://schemas.microsoft.com/office/drawing/2014/main" id="{4747CCBD-82B0-49AB-88E0-0676D5267B9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20492" y="3798486"/>
              <a:ext cx="1440000" cy="877488"/>
              <a:chOff x="4978399" y="2049927"/>
              <a:chExt cx="2133601" cy="1300145"/>
            </a:xfrm>
          </p:grpSpPr>
          <p:grpSp>
            <p:nvGrpSpPr>
              <p:cNvPr id="9" name="Group 31">
                <a:extLst>
                  <a:ext uri="{FF2B5EF4-FFF2-40B4-BE49-F238E27FC236}">
                    <a16:creationId xmlns:a16="http://schemas.microsoft.com/office/drawing/2014/main" id="{782D651B-46F9-4F13-82D9-49E15A3E6AC1}"/>
                  </a:ext>
                </a:extLst>
              </p:cNvPr>
              <p:cNvGrpSpPr/>
              <p:nvPr/>
            </p:nvGrpSpPr>
            <p:grpSpPr>
              <a:xfrm>
                <a:off x="4978399" y="2049927"/>
                <a:ext cx="1612101" cy="1300145"/>
                <a:chOff x="5029200" y="2026452"/>
                <a:chExt cx="1612101" cy="1300145"/>
              </a:xfrm>
            </p:grpSpPr>
            <p:sp>
              <p:nvSpPr>
                <p:cNvPr id="13" name="Arc 35">
                  <a:extLst>
                    <a:ext uri="{FF2B5EF4-FFF2-40B4-BE49-F238E27FC236}">
                      <a16:creationId xmlns:a16="http://schemas.microsoft.com/office/drawing/2014/main" id="{24E588D4-48C4-4C54-966D-3FD2FFD92562}"/>
                    </a:ext>
                  </a:extLst>
                </p:cNvPr>
                <p:cNvSpPr/>
                <p:nvPr/>
              </p:nvSpPr>
              <p:spPr>
                <a:xfrm>
                  <a:off x="5029200" y="2183606"/>
                  <a:ext cx="714375" cy="988219"/>
                </a:xfrm>
                <a:prstGeom prst="arc">
                  <a:avLst>
                    <a:gd name="adj1" fmla="val 17834502"/>
                    <a:gd name="adj2" fmla="val 3809397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Arc 36">
                  <a:extLst>
                    <a:ext uri="{FF2B5EF4-FFF2-40B4-BE49-F238E27FC236}">
                      <a16:creationId xmlns:a16="http://schemas.microsoft.com/office/drawing/2014/main" id="{0FBF2EE6-5122-42EA-A889-3ABEBD998112}"/>
                    </a:ext>
                  </a:extLst>
                </p:cNvPr>
                <p:cNvSpPr/>
                <p:nvPr/>
              </p:nvSpPr>
              <p:spPr>
                <a:xfrm>
                  <a:off x="5233393" y="2271712"/>
                  <a:ext cx="1407908" cy="1054885"/>
                </a:xfrm>
                <a:prstGeom prst="arc">
                  <a:avLst>
                    <a:gd name="adj1" fmla="val 16200000"/>
                    <a:gd name="adj2" fmla="val 21001321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" name="Straight Connector 37">
                  <a:extLst>
                    <a:ext uri="{FF2B5EF4-FFF2-40B4-BE49-F238E27FC236}">
                      <a16:creationId xmlns:a16="http://schemas.microsoft.com/office/drawing/2014/main" id="{39C97A62-E16E-4226-BEE2-C57F0856EF82}"/>
                    </a:ext>
                  </a:extLst>
                </p:cNvPr>
                <p:cNvCxnSpPr>
                  <a:cxnSpLocks/>
                  <a:endCxn id="14" idx="0"/>
                </p:cNvCxnSpPr>
                <p:nvPr/>
              </p:nvCxnSpPr>
              <p:spPr>
                <a:xfrm flipV="1">
                  <a:off x="5591173" y="2271712"/>
                  <a:ext cx="360000" cy="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Arc 38">
                  <a:extLst>
                    <a:ext uri="{FF2B5EF4-FFF2-40B4-BE49-F238E27FC236}">
                      <a16:creationId xmlns:a16="http://schemas.microsoft.com/office/drawing/2014/main" id="{C9A90444-76C1-44FC-90F7-5F1E139BD4E9}"/>
                    </a:ext>
                  </a:extLst>
                </p:cNvPr>
                <p:cNvSpPr/>
                <p:nvPr/>
              </p:nvSpPr>
              <p:spPr>
                <a:xfrm flipV="1">
                  <a:off x="5233393" y="2026452"/>
                  <a:ext cx="1407908" cy="1054885"/>
                </a:xfrm>
                <a:prstGeom prst="arc">
                  <a:avLst>
                    <a:gd name="adj1" fmla="val 16200000"/>
                    <a:gd name="adj2" fmla="val 210089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7" name="Straight Connector 39">
                  <a:extLst>
                    <a:ext uri="{FF2B5EF4-FFF2-40B4-BE49-F238E27FC236}">
                      <a16:creationId xmlns:a16="http://schemas.microsoft.com/office/drawing/2014/main" id="{BD9BA3C2-0832-4AD8-80A7-80D2113B88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91173" y="3081338"/>
                  <a:ext cx="36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" name="Straight Connector 32">
                <a:extLst>
                  <a:ext uri="{FF2B5EF4-FFF2-40B4-BE49-F238E27FC236}">
                    <a16:creationId xmlns:a16="http://schemas.microsoft.com/office/drawing/2014/main" id="{EEBF06D0-E024-4A88-A04F-4F6F224B00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1862" y="2700000"/>
                <a:ext cx="54013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33">
                <a:extLst>
                  <a:ext uri="{FF2B5EF4-FFF2-40B4-BE49-F238E27FC236}">
                    <a16:creationId xmlns:a16="http://schemas.microsoft.com/office/drawing/2014/main" id="{160C2803-14F4-4E46-9140-EF60550BED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8399" y="2520000"/>
                <a:ext cx="6731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34">
                <a:extLst>
                  <a:ext uri="{FF2B5EF4-FFF2-40B4-BE49-F238E27FC236}">
                    <a16:creationId xmlns:a16="http://schemas.microsoft.com/office/drawing/2014/main" id="{5BCACFCC-F782-4D09-8466-CD5E1E3D00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8399" y="2880000"/>
                <a:ext cx="6731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40">
                  <a:extLst>
                    <a:ext uri="{FF2B5EF4-FFF2-40B4-BE49-F238E27FC236}">
                      <a16:creationId xmlns:a16="http://schemas.microsoft.com/office/drawing/2014/main" id="{819B20CA-30C0-4E35-9632-B9EFDAFFA35B}"/>
                    </a:ext>
                  </a:extLst>
                </p:cNvPr>
                <p:cNvSpPr txBox="1"/>
                <p:nvPr/>
              </p:nvSpPr>
              <p:spPr>
                <a:xfrm>
                  <a:off x="5085131" y="3647866"/>
                  <a:ext cx="4424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TextBox 40">
                  <a:extLst>
                    <a:ext uri="{FF2B5EF4-FFF2-40B4-BE49-F238E27FC236}">
                      <a16:creationId xmlns:a16="http://schemas.microsoft.com/office/drawing/2014/main" id="{819B20CA-30C0-4E35-9632-B9EFDAFFA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5131" y="3647866"/>
                  <a:ext cx="442429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41">
                  <a:extLst>
                    <a:ext uri="{FF2B5EF4-FFF2-40B4-BE49-F238E27FC236}">
                      <a16:creationId xmlns:a16="http://schemas.microsoft.com/office/drawing/2014/main" id="{395AD489-1DAB-4DE1-AF6B-390B1D05FB7F}"/>
                    </a:ext>
                  </a:extLst>
                </p:cNvPr>
                <p:cNvSpPr txBox="1"/>
                <p:nvPr/>
              </p:nvSpPr>
              <p:spPr>
                <a:xfrm>
                  <a:off x="5081156" y="4214309"/>
                  <a:ext cx="44640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TextBox 41">
                  <a:extLst>
                    <a:ext uri="{FF2B5EF4-FFF2-40B4-BE49-F238E27FC236}">
                      <a16:creationId xmlns:a16="http://schemas.microsoft.com/office/drawing/2014/main" id="{395AD489-1DAB-4DE1-AF6B-390B1D05FB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1156" y="4214309"/>
                  <a:ext cx="446404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42">
                  <a:extLst>
                    <a:ext uri="{FF2B5EF4-FFF2-40B4-BE49-F238E27FC236}">
                      <a16:creationId xmlns:a16="http://schemas.microsoft.com/office/drawing/2014/main" id="{A4EB09B6-2C9A-415E-976F-E1FF6A3264CA}"/>
                    </a:ext>
                  </a:extLst>
                </p:cNvPr>
                <p:cNvSpPr txBox="1"/>
                <p:nvPr/>
              </p:nvSpPr>
              <p:spPr>
                <a:xfrm>
                  <a:off x="6125574" y="3765500"/>
                  <a:ext cx="98527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TextBox 42">
                  <a:extLst>
                    <a:ext uri="{FF2B5EF4-FFF2-40B4-BE49-F238E27FC236}">
                      <a16:creationId xmlns:a16="http://schemas.microsoft.com/office/drawing/2014/main" id="{A4EB09B6-2C9A-415E-976F-E1FF6A326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5574" y="3765500"/>
                  <a:ext cx="98527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E130A75-A72D-48DF-BD86-888B2BEEAC81}"/>
              </a:ext>
            </a:extLst>
          </p:cNvPr>
          <p:cNvGrpSpPr/>
          <p:nvPr/>
        </p:nvGrpSpPr>
        <p:grpSpPr>
          <a:xfrm>
            <a:off x="5081156" y="4966256"/>
            <a:ext cx="1888771" cy="1028108"/>
            <a:chOff x="5081156" y="4966256"/>
            <a:chExt cx="1888771" cy="1028108"/>
          </a:xfrm>
        </p:grpSpPr>
        <p:grpSp>
          <p:nvGrpSpPr>
            <p:cNvPr id="19" name="Group 5">
              <a:extLst>
                <a:ext uri="{FF2B5EF4-FFF2-40B4-BE49-F238E27FC236}">
                  <a16:creationId xmlns:a16="http://schemas.microsoft.com/office/drawing/2014/main" id="{B7D2CC95-2DC4-4FEA-83A8-4A06404D79F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23027" y="5229521"/>
              <a:ext cx="1440000" cy="543602"/>
              <a:chOff x="4967308" y="3374120"/>
              <a:chExt cx="2144692" cy="809624"/>
            </a:xfrm>
          </p:grpSpPr>
          <p:grpSp>
            <p:nvGrpSpPr>
              <p:cNvPr id="23" name="Group 6">
                <a:extLst>
                  <a:ext uri="{FF2B5EF4-FFF2-40B4-BE49-F238E27FC236}">
                    <a16:creationId xmlns:a16="http://schemas.microsoft.com/office/drawing/2014/main" id="{C3B0517A-43CC-43F5-BAE7-CD4DD9064621}"/>
                  </a:ext>
                </a:extLst>
              </p:cNvPr>
              <p:cNvGrpSpPr/>
              <p:nvPr/>
            </p:nvGrpSpPr>
            <p:grpSpPr>
              <a:xfrm>
                <a:off x="5507446" y="3374120"/>
                <a:ext cx="1064416" cy="809624"/>
                <a:chOff x="5526085" y="3321850"/>
                <a:chExt cx="1064416" cy="809624"/>
              </a:xfrm>
            </p:grpSpPr>
            <p:sp>
              <p:nvSpPr>
                <p:cNvPr id="27" name="Arc 10">
                  <a:extLst>
                    <a:ext uri="{FF2B5EF4-FFF2-40B4-BE49-F238E27FC236}">
                      <a16:creationId xmlns:a16="http://schemas.microsoft.com/office/drawing/2014/main" id="{08819401-AD02-4CDC-8623-43A6948F5051}"/>
                    </a:ext>
                  </a:extLst>
                </p:cNvPr>
                <p:cNvSpPr/>
                <p:nvPr/>
              </p:nvSpPr>
              <p:spPr>
                <a:xfrm>
                  <a:off x="5849941" y="3321850"/>
                  <a:ext cx="740560" cy="809624"/>
                </a:xfrm>
                <a:prstGeom prst="arc">
                  <a:avLst>
                    <a:gd name="adj1" fmla="val 16200000"/>
                    <a:gd name="adj2" fmla="val 533814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8" name="Straight Connector 11">
                  <a:extLst>
                    <a:ext uri="{FF2B5EF4-FFF2-40B4-BE49-F238E27FC236}">
                      <a16:creationId xmlns:a16="http://schemas.microsoft.com/office/drawing/2014/main" id="{B462CF3E-540A-4674-8744-1D24BCF8D18D}"/>
                    </a:ext>
                  </a:extLst>
                </p:cNvPr>
                <p:cNvCxnSpPr>
                  <a:cxnSpLocks/>
                  <a:stCxn id="27" idx="0"/>
                </p:cNvCxnSpPr>
                <p:nvPr/>
              </p:nvCxnSpPr>
              <p:spPr>
                <a:xfrm flipH="1">
                  <a:off x="5526085" y="3321850"/>
                  <a:ext cx="69413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12">
                  <a:extLst>
                    <a:ext uri="{FF2B5EF4-FFF2-40B4-BE49-F238E27FC236}">
                      <a16:creationId xmlns:a16="http://schemas.microsoft.com/office/drawing/2014/main" id="{D86FDB70-6781-4484-B186-A54FF9EB6AFA}"/>
                    </a:ext>
                  </a:extLst>
                </p:cNvPr>
                <p:cNvCxnSpPr>
                  <a:cxnSpLocks/>
                  <a:stCxn id="27" idx="2"/>
                </p:cNvCxnSpPr>
                <p:nvPr/>
              </p:nvCxnSpPr>
              <p:spPr>
                <a:xfrm flipH="1">
                  <a:off x="5526086" y="4131396"/>
                  <a:ext cx="70141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13">
                  <a:extLst>
                    <a:ext uri="{FF2B5EF4-FFF2-40B4-BE49-F238E27FC236}">
                      <a16:creationId xmlns:a16="http://schemas.microsoft.com/office/drawing/2014/main" id="{C4526A8F-41EE-47B4-ADB3-1BCCDE479833}"/>
                    </a:ext>
                  </a:extLst>
                </p:cNvPr>
                <p:cNvCxnSpPr/>
                <p:nvPr/>
              </p:nvCxnSpPr>
              <p:spPr>
                <a:xfrm>
                  <a:off x="5540373" y="3321852"/>
                  <a:ext cx="0" cy="8095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" name="Straight Connector 7">
                <a:extLst>
                  <a:ext uri="{FF2B5EF4-FFF2-40B4-BE49-F238E27FC236}">
                    <a16:creationId xmlns:a16="http://schemas.microsoft.com/office/drawing/2014/main" id="{7741F362-D5FC-42C9-A57E-B35FAB400A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7308" y="3600000"/>
                <a:ext cx="54013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8">
                <a:extLst>
                  <a:ext uri="{FF2B5EF4-FFF2-40B4-BE49-F238E27FC236}">
                    <a16:creationId xmlns:a16="http://schemas.microsoft.com/office/drawing/2014/main" id="{A733C558-5EB1-4AE4-9174-92931A4F35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1862" y="3778878"/>
                <a:ext cx="54013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9">
                <a:extLst>
                  <a:ext uri="{FF2B5EF4-FFF2-40B4-BE49-F238E27FC236}">
                    <a16:creationId xmlns:a16="http://schemas.microsoft.com/office/drawing/2014/main" id="{51C494DC-B021-4544-9AFF-DD89D5BB2C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7308" y="3960000"/>
                <a:ext cx="54013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4">
                  <a:extLst>
                    <a:ext uri="{FF2B5EF4-FFF2-40B4-BE49-F238E27FC236}">
                      <a16:creationId xmlns:a16="http://schemas.microsoft.com/office/drawing/2014/main" id="{CDF20875-8D74-4D29-912E-2D50483442CC}"/>
                    </a:ext>
                  </a:extLst>
                </p:cNvPr>
                <p:cNvSpPr txBox="1"/>
                <p:nvPr/>
              </p:nvSpPr>
              <p:spPr>
                <a:xfrm>
                  <a:off x="5085131" y="4966256"/>
                  <a:ext cx="4424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TextBox 14">
                  <a:extLst>
                    <a:ext uri="{FF2B5EF4-FFF2-40B4-BE49-F238E27FC236}">
                      <a16:creationId xmlns:a16="http://schemas.microsoft.com/office/drawing/2014/main" id="{CDF20875-8D74-4D29-912E-2D5048344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5131" y="4966256"/>
                  <a:ext cx="442429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15">
                  <a:extLst>
                    <a:ext uri="{FF2B5EF4-FFF2-40B4-BE49-F238E27FC236}">
                      <a16:creationId xmlns:a16="http://schemas.microsoft.com/office/drawing/2014/main" id="{A556533B-713B-4310-A34B-C04729E20067}"/>
                    </a:ext>
                  </a:extLst>
                </p:cNvPr>
                <p:cNvSpPr txBox="1"/>
                <p:nvPr/>
              </p:nvSpPr>
              <p:spPr>
                <a:xfrm>
                  <a:off x="5081156" y="5532699"/>
                  <a:ext cx="44640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TextBox 15">
                  <a:extLst>
                    <a:ext uri="{FF2B5EF4-FFF2-40B4-BE49-F238E27FC236}">
                      <a16:creationId xmlns:a16="http://schemas.microsoft.com/office/drawing/2014/main" id="{A556533B-713B-4310-A34B-C04729E20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1156" y="5532699"/>
                  <a:ext cx="446404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16">
                  <a:extLst>
                    <a:ext uri="{FF2B5EF4-FFF2-40B4-BE49-F238E27FC236}">
                      <a16:creationId xmlns:a16="http://schemas.microsoft.com/office/drawing/2014/main" id="{821E332C-1D94-4B17-B260-1E15579D1011}"/>
                    </a:ext>
                  </a:extLst>
                </p:cNvPr>
                <p:cNvSpPr txBox="1"/>
                <p:nvPr/>
              </p:nvSpPr>
              <p:spPr>
                <a:xfrm>
                  <a:off x="6127324" y="5039620"/>
                  <a:ext cx="84260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TextBox 16">
                  <a:extLst>
                    <a:ext uri="{FF2B5EF4-FFF2-40B4-BE49-F238E27FC236}">
                      <a16:creationId xmlns:a16="http://schemas.microsoft.com/office/drawing/2014/main" id="{821E332C-1D94-4B17-B260-1E15579D1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7324" y="5039620"/>
                  <a:ext cx="842603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2611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386D6-061C-4BFF-8682-CCA7FD30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64EAC0-CBA2-4F85-8D02-16DD853857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Implement an </a:t>
                </a:r>
                <a:r>
                  <a:rPr lang="en-US" b="1" dirty="0">
                    <a:solidFill>
                      <a:srgbClr val="C00000"/>
                    </a:solidFill>
                  </a:rPr>
                  <a:t>XOR</a:t>
                </a:r>
                <a:r>
                  <a:rPr lang="en-US" dirty="0"/>
                  <a:t> gate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dirty="0"/>
                  <a:t>” (using NOT, OR, and AND).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truth table is as the testcase.</a:t>
                </a:r>
              </a:p>
              <a:p>
                <a:r>
                  <a:rPr lang="en-US" altLang="zh-CN" dirty="0"/>
                  <a:t>You need to convert the truth table to a DNF, do simplification, and implement the Boolean function by </a:t>
                </a:r>
                <a:r>
                  <a:rPr lang="en-US" altLang="zh-CN"/>
                  <a:t>a logic </a:t>
                </a:r>
                <a:r>
                  <a:rPr lang="en-US" altLang="zh-CN" dirty="0"/>
                  <a:t>circuit.</a:t>
                </a:r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64EAC0-CBA2-4F85-8D02-16DD853857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E4FF8024-64E3-4070-8C94-8BF7D9B2D48F}"/>
              </a:ext>
            </a:extLst>
          </p:cNvPr>
          <p:cNvGrpSpPr/>
          <p:nvPr/>
        </p:nvGrpSpPr>
        <p:grpSpPr>
          <a:xfrm>
            <a:off x="3104656" y="2508662"/>
            <a:ext cx="1894725" cy="1028108"/>
            <a:chOff x="5075696" y="2400892"/>
            <a:chExt cx="1894725" cy="1028108"/>
          </a:xfrm>
        </p:grpSpPr>
        <p:grpSp>
          <p:nvGrpSpPr>
            <p:cNvPr id="34" name="Group 30">
              <a:extLst>
                <a:ext uri="{FF2B5EF4-FFF2-40B4-BE49-F238E27FC236}">
                  <a16:creationId xmlns:a16="http://schemas.microsoft.com/office/drawing/2014/main" id="{316783D7-6C64-4107-B554-D220D8C059C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75696" y="2551512"/>
              <a:ext cx="1484796" cy="877488"/>
              <a:chOff x="4912026" y="2049927"/>
              <a:chExt cx="2199974" cy="1300145"/>
            </a:xfrm>
          </p:grpSpPr>
          <p:grpSp>
            <p:nvGrpSpPr>
              <p:cNvPr id="38" name="Group 31">
                <a:extLst>
                  <a:ext uri="{FF2B5EF4-FFF2-40B4-BE49-F238E27FC236}">
                    <a16:creationId xmlns:a16="http://schemas.microsoft.com/office/drawing/2014/main" id="{D3770E1F-7A97-43E1-B466-9B444AD7693B}"/>
                  </a:ext>
                </a:extLst>
              </p:cNvPr>
              <p:cNvGrpSpPr/>
              <p:nvPr/>
            </p:nvGrpSpPr>
            <p:grpSpPr>
              <a:xfrm>
                <a:off x="4912026" y="2049927"/>
                <a:ext cx="1678474" cy="1300145"/>
                <a:chOff x="4962827" y="2026452"/>
                <a:chExt cx="1678474" cy="1300145"/>
              </a:xfrm>
            </p:grpSpPr>
            <p:sp>
              <p:nvSpPr>
                <p:cNvPr id="42" name="Arc 35">
                  <a:extLst>
                    <a:ext uri="{FF2B5EF4-FFF2-40B4-BE49-F238E27FC236}">
                      <a16:creationId xmlns:a16="http://schemas.microsoft.com/office/drawing/2014/main" id="{C1E5ED68-4E37-4B46-9C05-F1E87492A947}"/>
                    </a:ext>
                  </a:extLst>
                </p:cNvPr>
                <p:cNvSpPr/>
                <p:nvPr/>
              </p:nvSpPr>
              <p:spPr>
                <a:xfrm>
                  <a:off x="5029200" y="2183606"/>
                  <a:ext cx="714375" cy="988219"/>
                </a:xfrm>
                <a:prstGeom prst="arc">
                  <a:avLst>
                    <a:gd name="adj1" fmla="val 17834502"/>
                    <a:gd name="adj2" fmla="val 3809397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Arc 36">
                  <a:extLst>
                    <a:ext uri="{FF2B5EF4-FFF2-40B4-BE49-F238E27FC236}">
                      <a16:creationId xmlns:a16="http://schemas.microsoft.com/office/drawing/2014/main" id="{0F0A6B91-015F-4E34-8BF0-6BDDA0A525E2}"/>
                    </a:ext>
                  </a:extLst>
                </p:cNvPr>
                <p:cNvSpPr/>
                <p:nvPr/>
              </p:nvSpPr>
              <p:spPr>
                <a:xfrm>
                  <a:off x="5233393" y="2271712"/>
                  <a:ext cx="1407908" cy="1054885"/>
                </a:xfrm>
                <a:prstGeom prst="arc">
                  <a:avLst>
                    <a:gd name="adj1" fmla="val 16200000"/>
                    <a:gd name="adj2" fmla="val 21001321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4" name="Straight Connector 37">
                  <a:extLst>
                    <a:ext uri="{FF2B5EF4-FFF2-40B4-BE49-F238E27FC236}">
                      <a16:creationId xmlns:a16="http://schemas.microsoft.com/office/drawing/2014/main" id="{B04AD53A-1166-4334-9F02-2339610D4794}"/>
                    </a:ext>
                  </a:extLst>
                </p:cNvPr>
                <p:cNvCxnSpPr>
                  <a:cxnSpLocks/>
                  <a:endCxn id="43" idx="0"/>
                </p:cNvCxnSpPr>
                <p:nvPr/>
              </p:nvCxnSpPr>
              <p:spPr>
                <a:xfrm flipV="1">
                  <a:off x="5591173" y="2271712"/>
                  <a:ext cx="360000" cy="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Arc 38">
                  <a:extLst>
                    <a:ext uri="{FF2B5EF4-FFF2-40B4-BE49-F238E27FC236}">
                      <a16:creationId xmlns:a16="http://schemas.microsoft.com/office/drawing/2014/main" id="{F0999CAE-A728-4B59-A35B-8C06F496E18F}"/>
                    </a:ext>
                  </a:extLst>
                </p:cNvPr>
                <p:cNvSpPr/>
                <p:nvPr/>
              </p:nvSpPr>
              <p:spPr>
                <a:xfrm flipV="1">
                  <a:off x="5233393" y="2026452"/>
                  <a:ext cx="1407908" cy="1054885"/>
                </a:xfrm>
                <a:prstGeom prst="arc">
                  <a:avLst>
                    <a:gd name="adj1" fmla="val 16200000"/>
                    <a:gd name="adj2" fmla="val 210089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6" name="Straight Connector 39">
                  <a:extLst>
                    <a:ext uri="{FF2B5EF4-FFF2-40B4-BE49-F238E27FC236}">
                      <a16:creationId xmlns:a16="http://schemas.microsoft.com/office/drawing/2014/main" id="{EDBAE5E9-4045-481F-B5C2-5453459DED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91173" y="3081338"/>
                  <a:ext cx="36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Arc 35">
                  <a:extLst>
                    <a:ext uri="{FF2B5EF4-FFF2-40B4-BE49-F238E27FC236}">
                      <a16:creationId xmlns:a16="http://schemas.microsoft.com/office/drawing/2014/main" id="{E462A618-9E30-423F-B2C5-9577827210C2}"/>
                    </a:ext>
                  </a:extLst>
                </p:cNvPr>
                <p:cNvSpPr/>
                <p:nvPr/>
              </p:nvSpPr>
              <p:spPr>
                <a:xfrm>
                  <a:off x="4962827" y="2183606"/>
                  <a:ext cx="714375" cy="988219"/>
                </a:xfrm>
                <a:prstGeom prst="arc">
                  <a:avLst>
                    <a:gd name="adj1" fmla="val 17834502"/>
                    <a:gd name="adj2" fmla="val 3809397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9" name="Straight Connector 32">
                <a:extLst>
                  <a:ext uri="{FF2B5EF4-FFF2-40B4-BE49-F238E27FC236}">
                    <a16:creationId xmlns:a16="http://schemas.microsoft.com/office/drawing/2014/main" id="{854132BD-6105-401E-B4A5-DFF5DAB9C2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1862" y="2700000"/>
                <a:ext cx="54013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3">
                <a:extLst>
                  <a:ext uri="{FF2B5EF4-FFF2-40B4-BE49-F238E27FC236}">
                    <a16:creationId xmlns:a16="http://schemas.microsoft.com/office/drawing/2014/main" id="{60A66CCD-28C1-4A63-B78A-125081B6EE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8399" y="2520000"/>
                <a:ext cx="6731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34">
                <a:extLst>
                  <a:ext uri="{FF2B5EF4-FFF2-40B4-BE49-F238E27FC236}">
                    <a16:creationId xmlns:a16="http://schemas.microsoft.com/office/drawing/2014/main" id="{BAD32661-758F-4103-9CBE-0220294BF1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8399" y="2880000"/>
                <a:ext cx="6731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40">
                  <a:extLst>
                    <a:ext uri="{FF2B5EF4-FFF2-40B4-BE49-F238E27FC236}">
                      <a16:creationId xmlns:a16="http://schemas.microsoft.com/office/drawing/2014/main" id="{1E7E6533-D52E-4374-A0E5-84931766C88F}"/>
                    </a:ext>
                  </a:extLst>
                </p:cNvPr>
                <p:cNvSpPr txBox="1"/>
                <p:nvPr/>
              </p:nvSpPr>
              <p:spPr>
                <a:xfrm>
                  <a:off x="5085131" y="2400892"/>
                  <a:ext cx="4424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TextBox 40">
                  <a:extLst>
                    <a:ext uri="{FF2B5EF4-FFF2-40B4-BE49-F238E27FC236}">
                      <a16:creationId xmlns:a16="http://schemas.microsoft.com/office/drawing/2014/main" id="{1E7E6533-D52E-4374-A0E5-84931766C8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5131" y="2400892"/>
                  <a:ext cx="442429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41">
                  <a:extLst>
                    <a:ext uri="{FF2B5EF4-FFF2-40B4-BE49-F238E27FC236}">
                      <a16:creationId xmlns:a16="http://schemas.microsoft.com/office/drawing/2014/main" id="{3DB27FBC-469C-45BF-8E9C-83D6FB0C15DF}"/>
                    </a:ext>
                  </a:extLst>
                </p:cNvPr>
                <p:cNvSpPr txBox="1"/>
                <p:nvPr/>
              </p:nvSpPr>
              <p:spPr>
                <a:xfrm>
                  <a:off x="5081156" y="2967335"/>
                  <a:ext cx="44640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TextBox 41">
                  <a:extLst>
                    <a:ext uri="{FF2B5EF4-FFF2-40B4-BE49-F238E27FC236}">
                      <a16:creationId xmlns:a16="http://schemas.microsoft.com/office/drawing/2014/main" id="{3DB27FBC-469C-45BF-8E9C-83D6FB0C15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1156" y="2967335"/>
                  <a:ext cx="446404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42">
                  <a:extLst>
                    <a:ext uri="{FF2B5EF4-FFF2-40B4-BE49-F238E27FC236}">
                      <a16:creationId xmlns:a16="http://schemas.microsoft.com/office/drawing/2014/main" id="{E2004D9B-D6CB-4926-8438-EE26C9154A82}"/>
                    </a:ext>
                  </a:extLst>
                </p:cNvPr>
                <p:cNvSpPr txBox="1"/>
                <p:nvPr/>
              </p:nvSpPr>
              <p:spPr>
                <a:xfrm>
                  <a:off x="6125574" y="2518526"/>
                  <a:ext cx="8448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7" name="TextBox 42">
                  <a:extLst>
                    <a:ext uri="{FF2B5EF4-FFF2-40B4-BE49-F238E27FC236}">
                      <a16:creationId xmlns:a16="http://schemas.microsoft.com/office/drawing/2014/main" id="{E2004D9B-D6CB-4926-8438-EE26C9154A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5574" y="2518526"/>
                  <a:ext cx="844847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E8EDC50A-54B4-4E46-8062-39BB1D246E4A}"/>
              </a:ext>
            </a:extLst>
          </p:cNvPr>
          <p:cNvSpPr txBox="1"/>
          <p:nvPr/>
        </p:nvSpPr>
        <p:spPr>
          <a:xfrm>
            <a:off x="6978185" y="2284052"/>
            <a:ext cx="27366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	y	x(</a:t>
            </a:r>
            <a:r>
              <a:rPr lang="en-US" dirty="0" err="1"/>
              <a:t>xor</a:t>
            </a:r>
            <a:r>
              <a:rPr lang="en-US" dirty="0"/>
              <a:t>)y</a:t>
            </a:r>
          </a:p>
          <a:p>
            <a:r>
              <a:rPr lang="en-US" dirty="0"/>
              <a:t>0	0	0</a:t>
            </a:r>
          </a:p>
          <a:p>
            <a:r>
              <a:rPr lang="en-US" dirty="0"/>
              <a:t>0	1	1</a:t>
            </a:r>
          </a:p>
          <a:p>
            <a:r>
              <a:rPr lang="en-US" dirty="0"/>
              <a:t>1	0	1</a:t>
            </a:r>
          </a:p>
          <a:p>
            <a:r>
              <a:rPr lang="en-US" dirty="0"/>
              <a:t>1	1	0</a:t>
            </a:r>
          </a:p>
        </p:txBody>
      </p:sp>
    </p:spTree>
    <p:extLst>
      <p:ext uri="{BB962C8B-B14F-4D97-AF65-F5344CB8AC3E}">
        <p14:creationId xmlns:p14="http://schemas.microsoft.com/office/powerpoint/2010/main" val="1704349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386D6-061C-4BFF-8682-CCA7FD30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64EAC0-CBA2-4F85-8D02-16DD85385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E075E8-41A6-4090-9224-2E5236B52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66" y="2315928"/>
            <a:ext cx="6262268" cy="222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5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2D221-E2ED-42AD-9D97-6F69EEF7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324B1A-3DF0-4E93-B81B-E81E01523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previous examples are all about 2 variables.</a:t>
                </a:r>
              </a:p>
              <a:p>
                <a:r>
                  <a:rPr lang="en-US" dirty="0"/>
                  <a:t>Let’s try 3 variables. (Cases with more variables will be the same.)</a:t>
                </a:r>
              </a:p>
              <a:p>
                <a:r>
                  <a:rPr lang="en-US" dirty="0"/>
                  <a:t>Implement a circuit for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Multiplication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” is both left associative and right associative.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324B1A-3DF0-4E93-B81B-E81E01523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683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A2EB5-6AFC-40C3-A94E-91B1F67D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C8D7C7-F6A2-4005-A7F0-3635104EA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804" y="2538349"/>
            <a:ext cx="4916391" cy="178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69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55A67-F5B2-4B9F-8CE1-BCA80F31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 1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87CDB3-84AF-4449-81C9-727B31E29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a logic circuit for the following truth table.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Remember to simplify the Boolean function by Karnaugh map.</a:t>
            </a:r>
          </a:p>
          <a:p>
            <a:r>
              <a:rPr lang="en-US" dirty="0"/>
              <a:t>Also label the inputs and the output as the truth table.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ED0EF2-77A5-4D4C-B1D3-65D70A8EABA8}"/>
              </a:ext>
            </a:extLst>
          </p:cNvPr>
          <p:cNvSpPr txBox="1"/>
          <p:nvPr/>
        </p:nvSpPr>
        <p:spPr>
          <a:xfrm>
            <a:off x="4493996" y="2238332"/>
            <a:ext cx="327525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	y	z	out</a:t>
            </a:r>
          </a:p>
          <a:p>
            <a:r>
              <a:rPr lang="en-US" dirty="0"/>
              <a:t>0	0	0	0</a:t>
            </a:r>
          </a:p>
          <a:p>
            <a:r>
              <a:rPr lang="en-US" dirty="0"/>
              <a:t>0	0	1	0</a:t>
            </a:r>
          </a:p>
          <a:p>
            <a:r>
              <a:rPr lang="en-US" dirty="0"/>
              <a:t>0	1	0	1</a:t>
            </a:r>
          </a:p>
          <a:p>
            <a:r>
              <a:rPr lang="en-US" dirty="0"/>
              <a:t>0	1	1	0</a:t>
            </a:r>
          </a:p>
          <a:p>
            <a:r>
              <a:rPr lang="en-US" dirty="0"/>
              <a:t>1	0	0	1</a:t>
            </a:r>
          </a:p>
          <a:p>
            <a:r>
              <a:rPr lang="en-US" dirty="0"/>
              <a:t>1	0	1	0</a:t>
            </a:r>
          </a:p>
          <a:p>
            <a:r>
              <a:rPr lang="en-US" dirty="0"/>
              <a:t>1	1	0	1</a:t>
            </a:r>
          </a:p>
          <a:p>
            <a:r>
              <a:rPr lang="en-US" dirty="0"/>
              <a:t>1	1	1	0</a:t>
            </a:r>
          </a:p>
        </p:txBody>
      </p:sp>
    </p:spTree>
    <p:extLst>
      <p:ext uri="{BB962C8B-B14F-4D97-AF65-F5344CB8AC3E}">
        <p14:creationId xmlns:p14="http://schemas.microsoft.com/office/powerpoint/2010/main" val="2288444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32B38-DC84-4B63-A612-482185DE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4F23BA-3F37-41CE-B515-DBFAB7700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the circuit for </a:t>
            </a:r>
            <a:r>
              <a:rPr lang="en-US" b="1" dirty="0">
                <a:solidFill>
                  <a:srgbClr val="C00000"/>
                </a:solidFill>
              </a:rPr>
              <a:t>Exercise 1</a:t>
            </a:r>
            <a:r>
              <a:rPr lang="en-US" dirty="0"/>
              <a:t> as “</a:t>
            </a:r>
            <a:r>
              <a:rPr lang="en-US" b="1" dirty="0">
                <a:solidFill>
                  <a:srgbClr val="C00000"/>
                </a:solidFill>
              </a:rPr>
              <a:t>lab02_sub.dig</a:t>
            </a:r>
            <a:r>
              <a:rPr lang="en-US" dirty="0"/>
              <a:t>”.</a:t>
            </a:r>
          </a:p>
          <a:p>
            <a:r>
              <a:rPr lang="en-US" dirty="0"/>
              <a:t>Submit this file to iSpace.</a:t>
            </a:r>
          </a:p>
          <a:p>
            <a:r>
              <a:rPr lang="en-US" dirty="0"/>
              <a:t>No marks will be given if the file name is wrong.</a:t>
            </a:r>
          </a:p>
        </p:txBody>
      </p:sp>
    </p:spTree>
    <p:extLst>
      <p:ext uri="{BB962C8B-B14F-4D97-AF65-F5344CB8AC3E}">
        <p14:creationId xmlns:p14="http://schemas.microsoft.com/office/powerpoint/2010/main" val="1132976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4963C-74B6-45D4-8B69-5C9020CA64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</a:t>
            </a:r>
            <a:r>
              <a:rPr lang="en-US" altLang="zh-CN" dirty="0"/>
              <a:t>ab</a:t>
            </a:r>
            <a:r>
              <a:rPr lang="en-US" dirty="0"/>
              <a:t> 02</a:t>
            </a:r>
          </a:p>
        </p:txBody>
      </p:sp>
    </p:spTree>
    <p:extLst>
      <p:ext uri="{BB962C8B-B14F-4D97-AF65-F5344CB8AC3E}">
        <p14:creationId xmlns:p14="http://schemas.microsoft.com/office/powerpoint/2010/main" val="4238584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3285</TotalTime>
  <Words>436</Words>
  <Application>Microsoft Office PowerPoint</Application>
  <PresentationFormat>宽屏</PresentationFormat>
  <Paragraphs>111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黑体</vt:lpstr>
      <vt:lpstr>Arial</vt:lpstr>
      <vt:lpstr>Cambria Math</vt:lpstr>
      <vt:lpstr>Office 主题​​</vt:lpstr>
      <vt:lpstr>COMP1003 Lab 02 Logic Gate</vt:lpstr>
      <vt:lpstr>Example 1</vt:lpstr>
      <vt:lpstr>Example 1</vt:lpstr>
      <vt:lpstr>Example 2</vt:lpstr>
      <vt:lpstr>Example 2</vt:lpstr>
      <vt:lpstr>Example 3</vt:lpstr>
      <vt:lpstr>Example 4</vt:lpstr>
      <vt:lpstr>Example 4</vt:lpstr>
      <vt:lpstr>Example 5</vt:lpstr>
      <vt:lpstr>Example 5</vt:lpstr>
      <vt:lpstr>Example 5</vt:lpstr>
      <vt:lpstr>Example 6</vt:lpstr>
      <vt:lpstr>Example 6</vt:lpstr>
      <vt:lpstr>Exercise 1</vt:lpstr>
      <vt:lpstr>Submission</vt:lpstr>
      <vt:lpstr>End of Lab 02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Goliath Li</dc:creator>
  <cp:lastModifiedBy>Goliath Li</cp:lastModifiedBy>
  <cp:revision>127</cp:revision>
  <dcterms:created xsi:type="dcterms:W3CDTF">2026-07-06T02:41:27Z</dcterms:created>
  <dcterms:modified xsi:type="dcterms:W3CDTF">2026-09-09T07:36:08Z</dcterms:modified>
</cp:coreProperties>
</file>